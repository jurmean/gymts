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7"/>
    <p:restoredTop sz="90497"/>
  </p:normalViewPr>
  <p:slideViewPr>
    <p:cSldViewPr snapToGrid="0">
      <p:cViewPr varScale="1">
        <p:scale>
          <a:sx n="127" d="100"/>
          <a:sy n="127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GymTS</a:t>
            </a:r>
            <a:r>
              <a:rPr dirty="0"/>
              <a:t> 的目标是支撑面向具体现场的时序方案研发与持续改进。它提供实验环境、运行记录和独立测试，使方案可以运行、交互、比较，每次改动都有可复核依据。统一接口是实现手段。全稿按输入输出、运行机制、环境协议、LibraryTS </a:t>
            </a:r>
            <a:r>
              <a:rPr dirty="0" err="1"/>
              <a:t>关系、证据、评价、实践与上层研发流程展开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outputs/gymts-architecture-design-2026-09-21/01_总体设计.md §1、§4</a:t>
            </a:r>
          </a:p>
          <a:p>
            <a:r>
              <a:rPr dirty="0"/>
              <a:t>outputs/gymts-architecture-design-2026-09-21/</a:t>
            </a:r>
            <a:r>
              <a:rPr dirty="0" err="1"/>
              <a:t>资料</a:t>
            </a:r>
            <a:r>
              <a:rPr dirty="0"/>
              <a:t>/</a:t>
            </a:r>
            <a:r>
              <a:rPr dirty="0" err="1"/>
              <a:t>依据与设计决策.md</a:t>
            </a:r>
            <a:endParaRPr dirty="0"/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GymTS</a:t>
            </a:r>
            <a:r>
              <a:rPr dirty="0"/>
              <a:t> </a:t>
            </a:r>
            <a:r>
              <a:rPr dirty="0" err="1"/>
              <a:t>由</a:t>
            </a:r>
            <a:r>
              <a:rPr dirty="0"/>
              <a:t> </a:t>
            </a:r>
            <a:r>
              <a:rPr dirty="0" err="1"/>
              <a:t>EnvironmentTS</a:t>
            </a:r>
            <a:r>
              <a:rPr dirty="0"/>
              <a:t> </a:t>
            </a:r>
            <a:r>
              <a:rPr dirty="0" err="1"/>
              <a:t>与</a:t>
            </a:r>
            <a:r>
              <a:rPr dirty="0"/>
              <a:t> </a:t>
            </a:r>
            <a:r>
              <a:rPr dirty="0" err="1"/>
              <a:t>BenchTS</a:t>
            </a:r>
            <a:r>
              <a:rPr dirty="0"/>
              <a:t> </a:t>
            </a:r>
            <a:r>
              <a:rPr dirty="0" err="1"/>
              <a:t>两个主模块组成。一次普通实验即可返回</a:t>
            </a:r>
            <a:r>
              <a:rPr dirty="0"/>
              <a:t> </a:t>
            </a:r>
            <a:r>
              <a:rPr dirty="0" err="1"/>
              <a:t>RunResult，并通过</a:t>
            </a:r>
            <a:r>
              <a:rPr dirty="0"/>
              <a:t> </a:t>
            </a:r>
            <a:r>
              <a:rPr dirty="0" err="1"/>
              <a:t>result_ref、trace_ref、artifact_refs</a:t>
            </a:r>
            <a:r>
              <a:rPr dirty="0"/>
              <a:t> </a:t>
            </a:r>
            <a:r>
              <a:rPr dirty="0" err="1"/>
              <a:t>访问任务结果、运行记录和产物。EvaluationReport</a:t>
            </a:r>
            <a:r>
              <a:rPr dirty="0"/>
              <a:t> </a:t>
            </a:r>
            <a:r>
              <a:rPr dirty="0" err="1"/>
              <a:t>仅在执行评价后产生；不能将没有标签的检测输出解释为准确率。图中</a:t>
            </a:r>
            <a:r>
              <a:rPr dirty="0"/>
              <a:t> Candidate </a:t>
            </a:r>
            <a:r>
              <a:rPr dirty="0" err="1"/>
              <a:t>只是</a:t>
            </a:r>
            <a:r>
              <a:rPr dirty="0"/>
              <a:t> </a:t>
            </a:r>
            <a:r>
              <a:rPr dirty="0" err="1"/>
              <a:t>EnvironmentTS</a:t>
            </a:r>
            <a:r>
              <a:rPr dirty="0"/>
              <a:t> </a:t>
            </a:r>
            <a:r>
              <a:rPr dirty="0" err="1"/>
              <a:t>内部的一次运行角色。真实观测由环境按配置获取，不随</a:t>
            </a:r>
            <a:r>
              <a:rPr dirty="0"/>
              <a:t> </a:t>
            </a:r>
            <a:r>
              <a:rPr dirty="0" err="1"/>
              <a:t>ExperimentSpec</a:t>
            </a:r>
            <a:r>
              <a:rPr dirty="0"/>
              <a:t> </a:t>
            </a:r>
            <a:r>
              <a:rPr dirty="0" err="1"/>
              <a:t>内嵌全部数据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outputs/gymts-architecture-design-2026-09-21/01_总体设计.md §2–§4</a:t>
            </a:r>
          </a:p>
          <a:p>
            <a:r>
              <a:rPr dirty="0"/>
              <a:t>outputs/gymts-architecture-design-2026-09-21/03_接口规范.md §1、§2</a:t>
            </a:r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箭头表示数据和交互方向；实际组件调用由</a:t>
            </a:r>
            <a:r>
              <a:rPr dirty="0"/>
              <a:t> Runner </a:t>
            </a:r>
            <a:r>
              <a:rPr dirty="0" err="1"/>
              <a:t>组织。Task.consume</a:t>
            </a:r>
            <a:r>
              <a:rPr dirty="0"/>
              <a:t> </a:t>
            </a:r>
            <a:r>
              <a:rPr dirty="0" err="1"/>
              <a:t>与</a:t>
            </a:r>
            <a:r>
              <a:rPr dirty="0"/>
              <a:t> </a:t>
            </a:r>
            <a:r>
              <a:rPr dirty="0" err="1"/>
              <a:t>Task.interpret</a:t>
            </a:r>
            <a:r>
              <a:rPr dirty="0"/>
              <a:t> </a:t>
            </a:r>
            <a:r>
              <a:rPr dirty="0" err="1"/>
              <a:t>是同一</a:t>
            </a:r>
            <a:r>
              <a:rPr dirty="0"/>
              <a:t> </a:t>
            </a:r>
            <a:r>
              <a:rPr dirty="0" err="1"/>
              <a:t>TaskSession</a:t>
            </a:r>
            <a:r>
              <a:rPr dirty="0"/>
              <a:t> </a:t>
            </a:r>
            <a:r>
              <a:rPr dirty="0" err="1"/>
              <a:t>的两个处理阶段。请求经</a:t>
            </a:r>
            <a:r>
              <a:rPr dirty="0"/>
              <a:t> Runner </a:t>
            </a:r>
            <a:r>
              <a:rPr dirty="0" err="1"/>
              <a:t>交给环境执行；操作回执交给</a:t>
            </a:r>
            <a:r>
              <a:rPr dirty="0"/>
              <a:t> </a:t>
            </a:r>
            <a:r>
              <a:rPr dirty="0" err="1"/>
              <a:t>Task.on_action，后续观测与奖励仍进入记录。允许在线更新时，Task</a:t>
            </a:r>
            <a:r>
              <a:rPr dirty="0"/>
              <a:t> </a:t>
            </a:r>
            <a:r>
              <a:rPr dirty="0" err="1"/>
              <a:t>产生</a:t>
            </a:r>
            <a:r>
              <a:rPr dirty="0"/>
              <a:t> </a:t>
            </a:r>
            <a:r>
              <a:rPr dirty="0" err="1"/>
              <a:t>CandidateFeedback，Runner</a:t>
            </a:r>
            <a:r>
              <a:rPr dirty="0"/>
              <a:t> </a:t>
            </a:r>
            <a:r>
              <a:rPr dirty="0" err="1"/>
              <a:t>调用</a:t>
            </a:r>
            <a:r>
              <a:rPr dirty="0"/>
              <a:t> </a:t>
            </a:r>
            <a:r>
              <a:rPr dirty="0" err="1"/>
              <a:t>update。示例说明任务绑定，不是实测结果。Candidate.prepare</a:t>
            </a:r>
            <a:r>
              <a:rPr dirty="0"/>
              <a:t> </a:t>
            </a:r>
            <a:r>
              <a:rPr dirty="0" err="1"/>
              <a:t>在运行前装载实现和可选模型制品，infer</a:t>
            </a:r>
            <a:r>
              <a:rPr dirty="0"/>
              <a:t> </a:t>
            </a:r>
            <a:r>
              <a:rPr dirty="0" err="1"/>
              <a:t>参与每轮调用，finish</a:t>
            </a:r>
            <a:r>
              <a:rPr dirty="0"/>
              <a:t> </a:t>
            </a:r>
            <a:r>
              <a:rPr dirty="0" err="1"/>
              <a:t>汇总产物。终止观测和最后奖励必须记录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outputs/gymts-architecture-design-2026-09-21/02_运行机制.md</a:t>
            </a:r>
          </a:p>
          <a:p>
            <a:r>
              <a:rPr dirty="0"/>
              <a:t>outputs/gymts-architecture-design-2026-09-21/03_接口规范.md §4、§5</a:t>
            </a:r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已有</a:t>
            </a:r>
            <a:r>
              <a:rPr dirty="0"/>
              <a:t> Gym </a:t>
            </a:r>
            <a:r>
              <a:rPr dirty="0" err="1"/>
              <a:t>类接口是接入方式，其背后可以是仿真或真实设备，不新增一种物理来源。observe</a:t>
            </a:r>
            <a:r>
              <a:rPr dirty="0"/>
              <a:t> </a:t>
            </a:r>
            <a:r>
              <a:rPr dirty="0" err="1"/>
              <a:t>的读取</a:t>
            </a:r>
            <a:r>
              <a:rPr dirty="0"/>
              <a:t>/</a:t>
            </a:r>
            <a:r>
              <a:rPr dirty="0" err="1"/>
              <a:t>查询语义与推进机制在能力中声明；范围查询不默认推进时钟。Gym</a:t>
            </a:r>
            <a:r>
              <a:rPr dirty="0"/>
              <a:t> </a:t>
            </a:r>
            <a:r>
              <a:rPr dirty="0" err="1"/>
              <a:t>桥接的</a:t>
            </a:r>
            <a:r>
              <a:rPr dirty="0"/>
              <a:t> act </a:t>
            </a:r>
            <a:r>
              <a:rPr dirty="0" err="1"/>
              <a:t>推进一步，随后的</a:t>
            </a:r>
            <a:r>
              <a:rPr dirty="0"/>
              <a:t> observe </a:t>
            </a:r>
            <a:r>
              <a:rPr dirty="0" err="1"/>
              <a:t>交付缓存结果，避免双重推进。真实在线源按</a:t>
            </a:r>
            <a:r>
              <a:rPr dirty="0"/>
              <a:t> wall clock </a:t>
            </a:r>
            <a:r>
              <a:rPr dirty="0" err="1"/>
              <a:t>到达，可</a:t>
            </a:r>
            <a:r>
              <a:rPr dirty="0"/>
              <a:t> attach </a:t>
            </a:r>
            <a:r>
              <a:rPr dirty="0" err="1"/>
              <a:t>而不假装</a:t>
            </a:r>
            <a:r>
              <a:rPr dirty="0"/>
              <a:t> </a:t>
            </a:r>
            <a:r>
              <a:rPr dirty="0" err="1"/>
              <a:t>reset。此页五个方法是设计协议，完整字段与错误语义见接口规范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outputs/gymts-architecture-design-2026-09-21/01_总体设计.md §6</a:t>
            </a:r>
          </a:p>
          <a:p>
            <a:r>
              <a:rPr dirty="0"/>
              <a:t>outputs/gymts-architecture-design-2026-09-21/03_接口规范.md §3–§4</a:t>
            </a:r>
          </a:p>
          <a:p>
            <a:r>
              <a:rPr dirty="0"/>
              <a:t>outputs/gymts-architecture-design-2026-09-21/04_场景接入.md</a:t>
            </a:r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LibraryTS</a:t>
            </a:r>
            <a:r>
              <a:rPr dirty="0"/>
              <a:t> </a:t>
            </a:r>
            <a:r>
              <a:rPr dirty="0" err="1"/>
              <a:t>是资产来源，Candidate</a:t>
            </a:r>
            <a:r>
              <a:rPr dirty="0"/>
              <a:t> </a:t>
            </a:r>
            <a:r>
              <a:rPr dirty="0" err="1"/>
              <a:t>是在一次</a:t>
            </a:r>
            <a:r>
              <a:rPr dirty="0"/>
              <a:t> Run </a:t>
            </a:r>
            <a:r>
              <a:rPr dirty="0" err="1"/>
              <a:t>中调用这些资产的逻辑实例或服务会话，两者不是并列模块。origin_ref</a:t>
            </a:r>
            <a:r>
              <a:rPr dirty="0"/>
              <a:t> </a:t>
            </a:r>
            <a:r>
              <a:rPr dirty="0" err="1"/>
              <a:t>固定原生实现来源；adapter</a:t>
            </a:r>
            <a:r>
              <a:rPr dirty="0"/>
              <a:t>/version </a:t>
            </a:r>
            <a:r>
              <a:rPr dirty="0" err="1"/>
              <a:t>固定调用包装；artifact</a:t>
            </a:r>
            <a:r>
              <a:rPr dirty="0"/>
              <a:t> </a:t>
            </a:r>
            <a:r>
              <a:rPr dirty="0" err="1"/>
              <a:t>可选，表示</a:t>
            </a:r>
            <a:r>
              <a:rPr dirty="0"/>
              <a:t> prepare </a:t>
            </a:r>
            <a:r>
              <a:rPr dirty="0" err="1"/>
              <a:t>读取的既有模型状态。多个组件可以组合成一个</a:t>
            </a:r>
            <a:r>
              <a:rPr dirty="0"/>
              <a:t> </a:t>
            </a:r>
            <a:r>
              <a:rPr dirty="0" err="1"/>
              <a:t>Candidate，同一实现也可参与多次运行。Agent</a:t>
            </a:r>
            <a:r>
              <a:rPr dirty="0"/>
              <a:t> </a:t>
            </a:r>
            <a:r>
              <a:rPr dirty="0" err="1"/>
              <a:t>实现还可来自</a:t>
            </a:r>
            <a:r>
              <a:rPr dirty="0"/>
              <a:t> </a:t>
            </a:r>
            <a:r>
              <a:rPr dirty="0" err="1"/>
              <a:t>SkillTS、已有代码或服务，经相同任务契约参与。实例独立并不强制复制大模型权重。冻结的</a:t>
            </a:r>
            <a:r>
              <a:rPr dirty="0"/>
              <a:t> Agent </a:t>
            </a:r>
            <a:r>
              <a:rPr dirty="0" err="1"/>
              <a:t>仍可有多轮上下文，但不等于训练更新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outputs/gymts-architecture-design-2026-09-21/01_总体设计.md §7</a:t>
            </a:r>
          </a:p>
          <a:p>
            <a:r>
              <a:rPr dirty="0"/>
              <a:t>outputs/gymts-architecture-design-2026-09-21/03_接口规范.md §4.2</a:t>
            </a:r>
          </a:p>
          <a:p>
            <a:r>
              <a:rPr dirty="0"/>
              <a:t>outputs/gymts-architecture-design-2026-09-21/04_场景接入.md</a:t>
            </a:r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records.begin_run</a:t>
            </a:r>
            <a:r>
              <a:rPr dirty="0"/>
              <a:t> </a:t>
            </a:r>
            <a:r>
              <a:rPr dirty="0" err="1"/>
              <a:t>固定计划与版本，append</a:t>
            </a:r>
            <a:r>
              <a:rPr dirty="0"/>
              <a:t> </a:t>
            </a:r>
            <a:r>
              <a:rPr dirty="0" err="1"/>
              <a:t>追加事件，end_run</a:t>
            </a:r>
            <a:r>
              <a:rPr dirty="0"/>
              <a:t> </a:t>
            </a:r>
            <a:r>
              <a:rPr dirty="0" err="1"/>
              <a:t>汇总；attach_outcomes</a:t>
            </a:r>
            <a:r>
              <a:rPr dirty="0"/>
              <a:t> </a:t>
            </a:r>
            <a:r>
              <a:rPr dirty="0" err="1"/>
              <a:t>追加后到真值或业务结果，read_events</a:t>
            </a:r>
            <a:r>
              <a:rPr dirty="0"/>
              <a:t>/</a:t>
            </a:r>
            <a:r>
              <a:rPr dirty="0" err="1"/>
              <a:t>get_run</a:t>
            </a:r>
            <a:r>
              <a:rPr dirty="0"/>
              <a:t> </a:t>
            </a:r>
            <a:r>
              <a:rPr dirty="0" err="1"/>
              <a:t>提供复核视图。RunRecord</a:t>
            </a:r>
            <a:r>
              <a:rPr dirty="0"/>
              <a:t> 不要求复制所有现场数据，但固定引用必须可解析，能重建当时使用了什么。在线数据还应保留实际返回和首次可见时间。动作回执、后继观测和终止奖励属于证据链。这里 t0、t1、t2 </a:t>
            </a:r>
            <a:r>
              <a:rPr dirty="0" err="1"/>
              <a:t>为示意时间阶段，不是测量数据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outputs/gymts-architecture-design-2026-09-21/01_总体设计.md §3、§5.3</a:t>
            </a:r>
          </a:p>
          <a:p>
            <a:r>
              <a:rPr dirty="0"/>
              <a:t>outputs/gymts-architecture-design-2026-09-21/02_运行机制.md</a:t>
            </a:r>
          </a:p>
          <a:p>
            <a:r>
              <a:rPr dirty="0"/>
              <a:t>outputs/gymts-architecture-design-2026-09-21/03_接口规范.md §5</a:t>
            </a:r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BenchTS.evaluate</a:t>
            </a:r>
            <a:r>
              <a:rPr dirty="0"/>
              <a:t> </a:t>
            </a:r>
            <a:r>
              <a:rPr dirty="0" err="1"/>
              <a:t>按</a:t>
            </a:r>
            <a:r>
              <a:rPr dirty="0"/>
              <a:t> </a:t>
            </a:r>
            <a:r>
              <a:rPr dirty="0" err="1"/>
              <a:t>EvaluationSpec</a:t>
            </a:r>
            <a:r>
              <a:rPr dirty="0"/>
              <a:t> </a:t>
            </a:r>
            <a:r>
              <a:rPr dirty="0" err="1"/>
              <a:t>编排案例和基线，复用</a:t>
            </a:r>
            <a:r>
              <a:rPr dirty="0"/>
              <a:t> </a:t>
            </a:r>
            <a:r>
              <a:rPr dirty="0" err="1"/>
              <a:t>EnvironmentTS</a:t>
            </a:r>
            <a:r>
              <a:rPr dirty="0"/>
              <a:t> </a:t>
            </a:r>
            <a:r>
              <a:rPr dirty="0" err="1"/>
              <a:t>运行；BenchTS.score</a:t>
            </a:r>
            <a:r>
              <a:rPr dirty="0"/>
              <a:t> </a:t>
            </a:r>
            <a:r>
              <a:rPr dirty="0" err="1"/>
              <a:t>使用已有</a:t>
            </a:r>
            <a:r>
              <a:rPr dirty="0"/>
              <a:t> Run </a:t>
            </a:r>
            <a:r>
              <a:rPr dirty="0" err="1"/>
              <a:t>与</a:t>
            </a:r>
            <a:r>
              <a:rPr dirty="0"/>
              <a:t> </a:t>
            </a:r>
            <a:r>
              <a:rPr dirty="0" err="1"/>
              <a:t>ScoreSpec</a:t>
            </a:r>
            <a:r>
              <a:rPr dirty="0"/>
              <a:t> </a:t>
            </a:r>
            <a:r>
              <a:rPr dirty="0" err="1"/>
              <a:t>重评分。ResultView</a:t>
            </a:r>
            <a:r>
              <a:rPr dirty="0"/>
              <a:t> </a:t>
            </a:r>
            <a:r>
              <a:rPr dirty="0" err="1"/>
              <a:t>是结果及来源证据，OutcomeView</a:t>
            </a:r>
            <a:r>
              <a:rPr dirty="0"/>
              <a:t> </a:t>
            </a:r>
            <a:r>
              <a:rPr dirty="0" err="1"/>
              <a:t>是独立评价依据，两者分离。评价专用真值不能自动流入候选；只有任务和执行计划明确允许的反馈才进入</a:t>
            </a:r>
            <a:r>
              <a:rPr dirty="0"/>
              <a:t> </a:t>
            </a:r>
            <a:r>
              <a:rPr dirty="0" err="1"/>
              <a:t>update。报告必须说明覆盖范围，测试通过只是评审依据，发布批准留在</a:t>
            </a:r>
            <a:r>
              <a:rPr dirty="0"/>
              <a:t> </a:t>
            </a:r>
            <a:r>
              <a:rPr dirty="0" err="1"/>
              <a:t>LabTS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outputs/gymts-architecture-design-2026-09-21/01_总体设计.md §4、§5.4</a:t>
            </a:r>
          </a:p>
          <a:p>
            <a:r>
              <a:rPr dirty="0"/>
              <a:t>outputs/gymts-architecture-design-2026-09-21/03_接口规范.md §6</a:t>
            </a:r>
          </a:p>
          <a:p>
            <a:r>
              <a:rPr dirty="0"/>
              <a:t>outputs/gymts-architecture-design-2026-09-21/</a:t>
            </a:r>
            <a:r>
              <a:rPr dirty="0" err="1"/>
              <a:t>资料</a:t>
            </a:r>
            <a:r>
              <a:rPr dirty="0"/>
              <a:t>/</a:t>
            </a:r>
            <a:r>
              <a:rPr dirty="0" err="1"/>
              <a:t>依据与设计决策.md</a:t>
            </a:r>
            <a:endParaRPr dirty="0"/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ChatTS</a:t>
            </a:r>
            <a:r>
              <a:rPr dirty="0"/>
              <a:t> </a:t>
            </a:r>
            <a:r>
              <a:rPr dirty="0" err="1"/>
              <a:t>在此页是合成数据来源，不是将</a:t>
            </a:r>
            <a:r>
              <a:rPr dirty="0"/>
              <a:t> </a:t>
            </a:r>
            <a:r>
              <a:rPr dirty="0" err="1"/>
              <a:t>ChatTS</a:t>
            </a:r>
            <a:r>
              <a:rPr dirty="0"/>
              <a:t> 模型直接定义为环境。固定快照适合第一轮回放接入；动态生成需固定配置、随机性与生成结果。形态标注用于描述序列，不等价于业务故障标签。阿里 </a:t>
            </a:r>
            <a:r>
              <a:rPr dirty="0" err="1"/>
              <a:t>cmsdemo</a:t>
            </a:r>
            <a:r>
              <a:rPr dirty="0"/>
              <a:t> </a:t>
            </a:r>
            <a:r>
              <a:rPr dirty="0" err="1"/>
              <a:t>公开页面只可证明在线观测展示形式；真正</a:t>
            </a:r>
            <a:r>
              <a:rPr dirty="0"/>
              <a:t> Environment </a:t>
            </a:r>
            <a:r>
              <a:rPr dirty="0" err="1"/>
              <a:t>需要获得授权的查询</a:t>
            </a:r>
            <a:r>
              <a:rPr dirty="0"/>
              <a:t> API/</a:t>
            </a:r>
            <a:r>
              <a:rPr dirty="0" err="1"/>
              <a:t>SDK、指标空间、实体与时间范围，本设计不声称已完成接入或验证其控制能力</a:t>
            </a:r>
            <a:r>
              <a:rPr dirty="0"/>
              <a:t>。</a:t>
            </a:r>
          </a:p>
          <a:p>
            <a:r>
              <a:rPr dirty="0" err="1"/>
              <a:t>实践来源：https</a:t>
            </a:r>
            <a:r>
              <a:rPr dirty="0"/>
              <a:t>://</a:t>
            </a:r>
            <a:r>
              <a:rPr dirty="0" err="1"/>
              <a:t>sls.aliyun.com</a:t>
            </a:r>
            <a:r>
              <a:rPr dirty="0"/>
              <a:t>/doc/playground/</a:t>
            </a:r>
            <a:r>
              <a:rPr dirty="0" err="1"/>
              <a:t>cmsdemo.html</a:t>
            </a:r>
            <a:endParaRPr dirty="0"/>
          </a:p>
          <a:p>
            <a:r>
              <a:rPr dirty="0" err="1"/>
              <a:t>ChatTS</a:t>
            </a:r>
            <a:r>
              <a:rPr dirty="0"/>
              <a:t> </a:t>
            </a:r>
            <a:r>
              <a:rPr dirty="0" err="1"/>
              <a:t>材料参见</a:t>
            </a:r>
            <a:r>
              <a:rPr dirty="0"/>
              <a:t> outputs/gymts-practices-2026-09-23/</a:t>
            </a:r>
            <a:r>
              <a:rPr dirty="0" err="1"/>
              <a:t>chatts-research.md</a:t>
            </a:r>
            <a:r>
              <a:rPr dirty="0"/>
              <a:t> </a:t>
            </a:r>
            <a:r>
              <a:rPr dirty="0" err="1"/>
              <a:t>与最新场景接入文档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outputs/gymts-architecture-design-2026-09-21/04_场景接入.md</a:t>
            </a:r>
          </a:p>
          <a:p>
            <a:r>
              <a:rPr dirty="0"/>
              <a:t>outputs/gymts-architecture-design-2026-09-21/</a:t>
            </a:r>
            <a:r>
              <a:rPr dirty="0" err="1"/>
              <a:t>资料</a:t>
            </a:r>
            <a:r>
              <a:rPr dirty="0"/>
              <a:t>/</a:t>
            </a:r>
            <a:r>
              <a:rPr dirty="0" err="1"/>
              <a:t>依据与设计决策.md</a:t>
            </a:r>
            <a:endParaRPr dirty="0"/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GymTS</a:t>
            </a:r>
            <a:r>
              <a:rPr dirty="0"/>
              <a:t> </a:t>
            </a:r>
            <a:r>
              <a:rPr dirty="0" err="1"/>
              <a:t>的外部价值是向上层研发与评审交付可复核依据。LabTS</a:t>
            </a:r>
            <a:r>
              <a:rPr dirty="0"/>
              <a:t> </a:t>
            </a:r>
            <a:r>
              <a:rPr dirty="0" err="1"/>
              <a:t>比较、评审并批准交付，EvolveTS</a:t>
            </a:r>
            <a:r>
              <a:rPr dirty="0"/>
              <a:t> </a:t>
            </a:r>
            <a:r>
              <a:rPr dirty="0" err="1"/>
              <a:t>结合实验、生产结果和用户反馈组织后续改进；新版本必须进入新的实验、测试和评审过程。生产运行不要求全部经过</a:t>
            </a:r>
            <a:r>
              <a:rPr dirty="0"/>
              <a:t> </a:t>
            </a:r>
            <a:r>
              <a:rPr dirty="0" err="1"/>
              <a:t>GymTS。底层</a:t>
            </a:r>
            <a:r>
              <a:rPr dirty="0"/>
              <a:t> Agent Platform </a:t>
            </a:r>
            <a:r>
              <a:rPr dirty="0" err="1"/>
              <a:t>提供通用执行与权限隔离，领域记录由</a:t>
            </a:r>
            <a:r>
              <a:rPr dirty="0"/>
              <a:t> </a:t>
            </a:r>
            <a:r>
              <a:rPr dirty="0" err="1"/>
              <a:t>EnvironmentTS</a:t>
            </a:r>
            <a:r>
              <a:rPr dirty="0"/>
              <a:t> </a:t>
            </a:r>
            <a:r>
              <a:rPr dirty="0" err="1"/>
              <a:t>关联。最后一行是基于最新文档的建议实施顺序：先用可固定的历史</a:t>
            </a:r>
            <a:r>
              <a:rPr dirty="0"/>
              <a:t>/</a:t>
            </a:r>
            <a:r>
              <a:rPr dirty="0" err="1"/>
              <a:t>合成快照验证闭环，再接在线观测；它不代表已完成实现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设计依据（2026-09-24 </a:t>
            </a:r>
            <a:r>
              <a:rPr dirty="0" err="1"/>
              <a:t>最新版</a:t>
            </a:r>
            <a:r>
              <a:rPr dirty="0"/>
              <a:t>）：</a:t>
            </a:r>
          </a:p>
          <a:p>
            <a:r>
              <a:rPr dirty="0"/>
              <a:t>outputs/gymts-architecture-design-2026-09-21/01_总体设计.md §1、§8</a:t>
            </a:r>
          </a:p>
          <a:p>
            <a:r>
              <a:rPr dirty="0"/>
              <a:t>outputs/gymts-architecture-design-2026-09-21/04_场景接入.md</a:t>
            </a:r>
          </a:p>
          <a:p>
            <a:r>
              <a:rPr dirty="0"/>
              <a:t>outputs/gymts-architecture-design-2026-09-21/</a:t>
            </a:r>
            <a:r>
              <a:rPr dirty="0" err="1"/>
              <a:t>资料</a:t>
            </a:r>
            <a:r>
              <a:rPr dirty="0"/>
              <a:t>/</a:t>
            </a:r>
            <a:r>
              <a:rPr dirty="0" err="1"/>
              <a:t>依据与设计决策.md</a:t>
            </a:r>
            <a:endParaRPr dirty="0"/>
          </a:p>
          <a:p>
            <a:r>
              <a:rPr dirty="0" err="1"/>
              <a:t>项目职责依据：https</a:t>
            </a:r>
            <a:r>
              <a:rPr dirty="0"/>
              <a:t>://</a:t>
            </a:r>
            <a:r>
              <a:rPr dirty="0" err="1"/>
              <a:t>netman.aiops.org</a:t>
            </a:r>
            <a:r>
              <a:rPr dirty="0"/>
              <a:t>/contacts/projects/</a:t>
            </a:r>
          </a:p>
          <a:p>
            <a:r>
              <a:rPr dirty="0" err="1"/>
              <a:t>本演示为框架设计，不代表适配器已实现或全库兼容已验证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FAD9438-38F2-3CEB-7DE0-EBB188966A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">
                <a:srgbClr val="9EA3FF"/>
              </a:gs>
              <a:gs pos="99000">
                <a:srgbClr val="7030A0"/>
              </a:gs>
            </a:gsLst>
            <a:lin ang="7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15" y="446116"/>
            <a:ext cx="2104390" cy="702310"/>
          </a:xfrm>
          <a:prstGeom prst="rect">
            <a:avLst/>
          </a:prstGeom>
          <a:ln w="12700">
            <a:miter/>
          </a:ln>
        </p:spPr>
      </p:pic>
      <p:sp>
        <p:nvSpPr>
          <p:cNvPr id="24" name="正文级别 1…">
            <a:extLst>
              <a:ext uri="{FF2B5EF4-FFF2-40B4-BE49-F238E27FC236}">
                <a16:creationId xmlns:a16="http://schemas.microsoft.com/office/drawing/2014/main" id="{A6D13E05-857F-4841-BFE9-D4A9B8841CE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285897" y="2968286"/>
            <a:ext cx="7379970" cy="702945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ct val="0"/>
              </a:spcBef>
              <a:buSzTx/>
              <a:buNone/>
              <a:defRPr sz="3300" b="0" i="0" u="none" kern="0" cap="none" spc="30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228600" algn="ctr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>
                <a:solidFill>
                  <a:schemeClr val="bg1">
                    <a:lumMod val="75000"/>
                  </a:schemeClr>
                </a:solidFill>
              </a:defRPr>
            </a:lvl2pPr>
            <a:lvl3pPr marL="0" indent="457200" algn="ctr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>
                <a:solidFill>
                  <a:schemeClr val="bg1">
                    <a:lumMod val="75000"/>
                  </a:schemeClr>
                </a:solidFill>
              </a:defRPr>
            </a:lvl3pPr>
            <a:lvl4pPr marL="0" indent="685800" algn="ctr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>
                <a:solidFill>
                  <a:schemeClr val="bg1">
                    <a:lumMod val="75000"/>
                  </a:schemeClr>
                </a:solidFill>
              </a:defRPr>
            </a:lvl4pPr>
            <a:lvl5pPr marL="0" indent="914400" defTabSz="825500">
              <a:lnSpc>
                <a:spcPct val="100000"/>
              </a:lnSpc>
              <a:spcBef>
                <a:spcPct val="0"/>
              </a:spcBef>
              <a:buSzTx/>
              <a:buNone/>
              <a:defRPr sz="2750" b="1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r>
              <a:t>演示文稿副标题</a:t>
            </a:r>
          </a:p>
          <a:p>
            <a:pPr lvl="1">
              <a:buNone/>
            </a:pPr>
            <a:endParaRPr/>
          </a:p>
          <a:p>
            <a:pPr lvl="2">
              <a:buNone/>
            </a:pPr>
            <a:endParaRPr/>
          </a:p>
          <a:p>
            <a:pPr lvl="3">
              <a:buNone/>
            </a:pPr>
            <a:endParaRPr/>
          </a:p>
          <a:p>
            <a:pPr lvl="4">
              <a:buNone/>
            </a:pPr>
            <a:endParaRPr/>
          </a:p>
        </p:txBody>
      </p:sp>
      <p:sp>
        <p:nvSpPr>
          <p:cNvPr id="23" name="作者和日期">
            <a:extLst>
              <a:ext uri="{FF2B5EF4-FFF2-40B4-BE49-F238E27FC236}">
                <a16:creationId xmlns:a16="http://schemas.microsoft.com/office/drawing/2014/main" id="{4857096E-FAFE-4C84-890C-7B00F23BEF2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83726" y="4058565"/>
            <a:ext cx="10984311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 algn="ctr" defTabSz="701675">
              <a:lnSpc>
                <a:spcPct val="100000"/>
              </a:lnSpc>
              <a:spcBef>
                <a:spcPct val="0"/>
              </a:spcBef>
              <a:buSzTx/>
              <a:buNone/>
              <a:defRPr sz="1600" b="0" i="0" u="none" kern="0" cap="none" spc="0" baseline="0">
                <a:ln>
                  <a:noFill/>
                </a:ln>
                <a:solidFill>
                  <a:schemeClr val="bg1"/>
                </a:solidFill>
                <a:latin typeface="Microsoft YaHei Regular"/>
                <a:ea typeface="Microsoft YaHei Regular"/>
                <a:cs typeface="Microsoft YaHei Regular"/>
              </a:defRPr>
            </a:lvl1pPr>
          </a:lstStyle>
          <a:p>
            <a:r>
              <a:t>作者和日期</a:t>
            </a:r>
          </a:p>
        </p:txBody>
      </p:sp>
      <p:sp>
        <p:nvSpPr>
          <p:cNvPr id="3" name="演示文稿标题">
            <a:extLst>
              <a:ext uri="{FF2B5EF4-FFF2-40B4-BE49-F238E27FC236}">
                <a16:creationId xmlns:a16="http://schemas.microsoft.com/office/drawing/2014/main" id="{9B83E347-A5BE-4AC9-B21C-21787CF23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7788" y="1668780"/>
            <a:ext cx="9570720" cy="1003935"/>
          </a:xfrm>
          <a:prstGeom prst="rect">
            <a:avLst/>
          </a:prstGeom>
        </p:spPr>
        <p:txBody>
          <a:bodyPr anchor="b"/>
          <a:lstStyle>
            <a:lvl1pPr marL="0" marR="0" algn="ctr" defTabSz="2438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200" b="1" i="0" u="none" kern="0" cap="none" spc="300" baseline="0">
                <a:ln>
                  <a:noFill/>
                </a:ln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CA3E6CE5-FDDA-F83E-C52C-A60E2F695744}"/>
              </a:ext>
            </a:extLst>
          </p:cNvPr>
          <p:cNvSpPr>
            <a:spLocks noGrp="1"/>
          </p:cNvSpPr>
          <p:nvPr/>
        </p:nvSpPr>
        <p:spPr>
          <a:xfrm>
            <a:off x="1710814" y="2959735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37E33DBA-E483-A4D3-CCFA-4E3D0210522D}"/>
              </a:ext>
            </a:extLst>
          </p:cNvPr>
          <p:cNvSpPr>
            <a:spLocks noGrp="1"/>
          </p:cNvSpPr>
          <p:nvPr/>
        </p:nvSpPr>
        <p:spPr>
          <a:xfrm>
            <a:off x="1785110" y="2985052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65BDBFB7-796C-08A0-FA68-84FE335EC67D}"/>
              </a:ext>
            </a:extLst>
          </p:cNvPr>
          <p:cNvSpPr>
            <a:spLocks noGrp="1"/>
          </p:cNvSpPr>
          <p:nvPr/>
        </p:nvSpPr>
        <p:spPr>
          <a:xfrm>
            <a:off x="1859406" y="3010369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80630A19-C037-189A-6C6C-D97BAB472148}"/>
              </a:ext>
            </a:extLst>
          </p:cNvPr>
          <p:cNvSpPr>
            <a:spLocks noGrp="1"/>
          </p:cNvSpPr>
          <p:nvPr/>
        </p:nvSpPr>
        <p:spPr>
          <a:xfrm>
            <a:off x="1944282" y="3035686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126A25B2-4647-60E4-8944-407F6FC85138}"/>
              </a:ext>
            </a:extLst>
          </p:cNvPr>
          <p:cNvSpPr>
            <a:spLocks noGrp="1"/>
          </p:cNvSpPr>
          <p:nvPr/>
        </p:nvSpPr>
        <p:spPr>
          <a:xfrm>
            <a:off x="2015137" y="3061003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任意形状 10">
            <a:extLst>
              <a:ext uri="{FF2B5EF4-FFF2-40B4-BE49-F238E27FC236}">
                <a16:creationId xmlns:a16="http://schemas.microsoft.com/office/drawing/2014/main" id="{9B0EAE3B-E3FB-51F4-69CC-3EDA27C24FA2}"/>
              </a:ext>
            </a:extLst>
          </p:cNvPr>
          <p:cNvSpPr>
            <a:spLocks noGrp="1"/>
          </p:cNvSpPr>
          <p:nvPr/>
        </p:nvSpPr>
        <p:spPr>
          <a:xfrm>
            <a:off x="2050005" y="3086320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8C765937-EF8A-C942-A7AF-6C8B60959DAE}"/>
              </a:ext>
            </a:extLst>
          </p:cNvPr>
          <p:cNvSpPr>
            <a:spLocks noGrp="1"/>
          </p:cNvSpPr>
          <p:nvPr/>
        </p:nvSpPr>
        <p:spPr>
          <a:xfrm>
            <a:off x="2134260" y="3111637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A6F835A3-3ADD-5A4A-57AA-307E790B79D9}"/>
              </a:ext>
            </a:extLst>
          </p:cNvPr>
          <p:cNvSpPr>
            <a:spLocks noGrp="1"/>
          </p:cNvSpPr>
          <p:nvPr/>
        </p:nvSpPr>
        <p:spPr>
          <a:xfrm>
            <a:off x="2208556" y="3153720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5D087232-8D45-D8AE-29A8-33F28F90EACC}"/>
              </a:ext>
            </a:extLst>
          </p:cNvPr>
          <p:cNvSpPr>
            <a:spLocks noGrp="1"/>
          </p:cNvSpPr>
          <p:nvPr/>
        </p:nvSpPr>
        <p:spPr>
          <a:xfrm>
            <a:off x="2285897" y="3195803"/>
            <a:ext cx="11201857" cy="4874150"/>
          </a:xfrm>
          <a:custGeom>
            <a:avLst/>
            <a:gdLst>
              <a:gd name="connsiteX0" fmla="*/ 0 w 9485906"/>
              <a:gd name="connsiteY0" fmla="*/ 4874150 h 4874150"/>
              <a:gd name="connsiteX1" fmla="*/ 644056 w 9485906"/>
              <a:gd name="connsiteY1" fmla="*/ 4174435 h 4874150"/>
              <a:gd name="connsiteX2" fmla="*/ 1948070 w 9485906"/>
              <a:gd name="connsiteY2" fmla="*/ 4269851 h 4874150"/>
              <a:gd name="connsiteX3" fmla="*/ 2981739 w 9485906"/>
              <a:gd name="connsiteY3" fmla="*/ 3196425 h 4874150"/>
              <a:gd name="connsiteX4" fmla="*/ 4389120 w 9485906"/>
              <a:gd name="connsiteY4" fmla="*/ 3204376 h 4874150"/>
              <a:gd name="connsiteX5" fmla="*/ 5502303 w 9485906"/>
              <a:gd name="connsiteY5" fmla="*/ 1924216 h 4874150"/>
              <a:gd name="connsiteX6" fmla="*/ 7768425 w 9485906"/>
              <a:gd name="connsiteY6" fmla="*/ 2130950 h 4874150"/>
              <a:gd name="connsiteX7" fmla="*/ 9485906 w 9485906"/>
              <a:gd name="connsiteY7" fmla="*/ 0 h 4874150"/>
            </a:gdLst>
            <a:ahLst/>
            <a:cxnLst/>
            <a:rect l="l" t="t" r="r" b="b"/>
            <a:pathLst>
              <a:path w="9485906" h="4874150">
                <a:moveTo>
                  <a:pt x="0" y="4874150"/>
                </a:moveTo>
                <a:cubicBezTo>
                  <a:pt x="159689" y="4574650"/>
                  <a:pt x="319378" y="4275151"/>
                  <a:pt x="644056" y="4174435"/>
                </a:cubicBezTo>
                <a:cubicBezTo>
                  <a:pt x="968734" y="4073719"/>
                  <a:pt x="1558456" y="4432853"/>
                  <a:pt x="1948070" y="4269851"/>
                </a:cubicBezTo>
                <a:cubicBezTo>
                  <a:pt x="2337684" y="4106849"/>
                  <a:pt x="2574897" y="3374004"/>
                  <a:pt x="2981739" y="3196425"/>
                </a:cubicBezTo>
                <a:cubicBezTo>
                  <a:pt x="3388581" y="3018846"/>
                  <a:pt x="3969026" y="3416411"/>
                  <a:pt x="4389120" y="3204376"/>
                </a:cubicBezTo>
                <a:cubicBezTo>
                  <a:pt x="4809214" y="2992341"/>
                  <a:pt x="4939086" y="2103120"/>
                  <a:pt x="5502303" y="1924216"/>
                </a:cubicBezTo>
                <a:cubicBezTo>
                  <a:pt x="6065520" y="1745312"/>
                  <a:pt x="7104491" y="2451653"/>
                  <a:pt x="7768425" y="2130950"/>
                </a:cubicBezTo>
                <a:cubicBezTo>
                  <a:pt x="8432359" y="1810247"/>
                  <a:pt x="8959132" y="905123"/>
                  <a:pt x="9485906" y="0"/>
                </a:cubicBezTo>
              </a:path>
            </a:pathLst>
          </a:custGeom>
          <a:noFill/>
          <a:ln w="889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73417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486B67-6E70-B6FC-A631-715E0B3DC0E0}"/>
              </a:ext>
            </a:extLst>
          </p:cNvPr>
          <p:cNvSpPr>
            <a:spLocks noGrp="1"/>
          </p:cNvSpPr>
          <p:nvPr/>
        </p:nvSpPr>
        <p:spPr>
          <a:xfrm>
            <a:off x="4483153" y="650912"/>
            <a:ext cx="30620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chemeClr val="bg1"/>
                </a:solidFill>
              </a:rPr>
              <a:t>TSINGHUA NETMAN LAB</a:t>
            </a:r>
          </a:p>
        </p:txBody>
      </p:sp>
      <p:pic>
        <p:nvPicPr>
          <p:cNvPr id="42" name="图片 1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10523" y="596342"/>
            <a:ext cx="974311" cy="5320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B80BA1-93AC-4B7B-9D27-CFB51CF61C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 b="0">
                <a:solidFill>
                  <a:schemeClr val="tx1"/>
                </a:solidFill>
              </a:defRPr>
            </a:lvl1pPr>
          </a:lstStyle>
          <a:p>
            <a:r>
              <a:t>标题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28C8F-FD64-4388-833A-2EC9EF3A2C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384536" y="6359300"/>
            <a:ext cx="1368020" cy="365125"/>
          </a:xfrm>
        </p:spPr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9BDCD2-3D0D-8650-045C-4989AB6D681C}"/>
              </a:ext>
            </a:extLst>
          </p:cNvPr>
          <p:cNvSpPr>
            <a:spLocks noGrp="1"/>
          </p:cNvSpPr>
          <p:nvPr/>
        </p:nvSpPr>
        <p:spPr>
          <a:xfrm>
            <a:off x="9210030" y="6392813"/>
            <a:ext cx="220124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006F"/>
                </a:solidFill>
              </a:rPr>
              <a:t>TSINGHUA NETMAN LAB</a:t>
            </a:r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CE9BD5F6-972B-FAC7-1A60-6F908051C6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18532" y="1446179"/>
            <a:ext cx="11011828" cy="4636851"/>
          </a:xfrm>
        </p:spPr>
        <p:txBody>
          <a:bodyPr>
            <a:normAutofit/>
          </a:bodyPr>
          <a:lstStyle>
            <a:lvl1pPr>
              <a:buNone/>
              <a:defRPr sz="3200"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>
                <a:latin typeface="Microsoft YaHei"/>
                <a:ea typeface="Microsoft YaHei"/>
                <a:cs typeface="Microsoft YaHei"/>
              </a:defRPr>
            </a:lvl5pPr>
          </a:lstStyle>
          <a:p>
            <a:pPr lvl="0">
              <a:buNone/>
            </a:pPr>
            <a:r>
              <a:t>CONTENT</a:t>
            </a:r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0B747A95-9C62-BB22-9FE2-3BFD1D1977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532" y="531235"/>
            <a:ext cx="11011828" cy="653963"/>
          </a:xfrm>
        </p:spPr>
        <p:txBody>
          <a:bodyPr>
            <a:noAutofit/>
          </a:bodyPr>
          <a:lstStyle>
            <a:lvl1pPr algn="ctr">
              <a:buNone/>
              <a:defRPr sz="4400"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t>TITLE</a:t>
            </a:r>
          </a:p>
        </p:txBody>
      </p:sp>
      <p:pic>
        <p:nvPicPr>
          <p:cNvPr id="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514" y="6446247"/>
            <a:ext cx="394516" cy="202033"/>
          </a:xfrm>
          <a:prstGeom prst="rect">
            <a:avLst/>
          </a:prstGeom>
        </p:spPr>
      </p:pic>
      <p:pic>
        <p:nvPicPr>
          <p:cNvPr id="24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31" y="6352054"/>
            <a:ext cx="428602" cy="445670"/>
          </a:xfrm>
          <a:prstGeom prst="rect">
            <a:avLst/>
          </a:prstGeom>
        </p:spPr>
      </p:pic>
      <p:sp>
        <p:nvSpPr>
          <p:cNvPr id="5" name="直线连接符 4">
            <a:extLst>
              <a:ext uri="{FF2B5EF4-FFF2-40B4-BE49-F238E27FC236}">
                <a16:creationId xmlns:a16="http://schemas.microsoft.com/office/drawing/2014/main" id="{7009D881-9360-4F8A-B8F8-C99C9913D2DC}"/>
              </a:ext>
            </a:extLst>
          </p:cNvPr>
          <p:cNvSpPr>
            <a:spLocks noGrp="1"/>
          </p:cNvSpPr>
          <p:nvPr/>
        </p:nvSpPr>
        <p:spPr>
          <a:xfrm>
            <a:off x="0" y="6289706"/>
            <a:ext cx="12192000" cy="0"/>
          </a:xfrm>
          <a:prstGeom prst="line">
            <a:avLst/>
          </a:prstGeom>
          <a:ln w="12700">
            <a:solidFill>
              <a:srgbClr val="802C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-73025"/>
            <a:ext cx="12192000" cy="6931025"/>
          </a:xfrm>
          <a:prstGeom prst="rect">
            <a:avLst/>
          </a:prstGeom>
        </p:spPr>
      </p:pic>
      <p:sp>
        <p:nvSpPr>
          <p:cNvPr id="7" name="演示文稿标题">
            <a:extLst>
              <a:ext uri="{FF2B5EF4-FFF2-40B4-BE49-F238E27FC236}">
                <a16:creationId xmlns:a16="http://schemas.microsoft.com/office/drawing/2014/main" id="{3C676813-31E9-437A-BA1F-F7F0B8D9A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8428" y="1968593"/>
            <a:ext cx="10775144" cy="15767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algn="ctr" defTabSz="2438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1" i="0" u="none" kern="0" cap="none" spc="300" baseline="0">
                <a:ln>
                  <a:noFill/>
                </a:ln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>
            <a:r>
              <a:t>THANKS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0D8A47-F227-59CF-953D-86FBD6871CF7}"/>
              </a:ext>
            </a:extLst>
          </p:cNvPr>
          <p:cNvSpPr>
            <a:spLocks noGrp="1"/>
          </p:cNvSpPr>
          <p:nvPr/>
        </p:nvSpPr>
        <p:spPr>
          <a:xfrm>
            <a:off x="4510677" y="655956"/>
            <a:ext cx="30620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chemeClr val="accent5">
                    <a:lumMod val="20000"/>
                    <a:lumOff val="80000"/>
                  </a:schemeClr>
                </a:solidFill>
              </a:rPr>
              <a:t>TSINGHUA NETMAN LAB</a:t>
            </a:r>
          </a:p>
        </p:txBody>
      </p:sp>
      <p:pic>
        <p:nvPicPr>
          <p:cNvPr id="14" name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09" y="515238"/>
            <a:ext cx="1842179" cy="614801"/>
          </a:xfrm>
          <a:prstGeom prst="rect">
            <a:avLst/>
          </a:prstGeom>
          <a:ln w="12700">
            <a:miter/>
          </a:ln>
        </p:spPr>
      </p:pic>
      <p:pic>
        <p:nvPicPr>
          <p:cNvPr id="15" name="图片 19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303565" y="596343"/>
            <a:ext cx="881269" cy="4812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BD921A-EDB6-4D10-9B2A-F9FE42C9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06B0DD-654F-4DFE-9870-178028306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874EAC-FACF-432E-8402-80ED4693C2C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20E7D-B0E2-43B6-80B6-F42AB6FF47A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标题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1A908-B0F7-4F6F-ADC8-F3BB9BDD54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0mtlg6swcu.feishu.cn/docx/Vd7ad9R46oUx9lxiKIcclJzFnOc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1">
            <a:extLst>
              <a:ext uri="{FF2B5EF4-FFF2-40B4-BE49-F238E27FC236}">
                <a16:creationId xmlns:a16="http://schemas.microsoft.com/office/drawing/2014/main" id="{8E995607-8429-4E33-A4C2-72B1CDEED5DF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04775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F48B2B-3E65-3767-DFC9-3F1689FDE233}"/>
              </a:ext>
            </a:extLst>
          </p:cNvPr>
          <p:cNvSpPr txBox="1"/>
          <p:nvPr/>
        </p:nvSpPr>
        <p:spPr>
          <a:xfrm>
            <a:off x="5549590" y="3429000"/>
            <a:ext cx="10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bg1"/>
                </a:solidFill>
              </a:rPr>
              <a:t>朱珉轩</a:t>
            </a:r>
          </a:p>
        </p:txBody>
      </p:sp>
    </p:spTree>
    <p:extLst>
      <p:ext uri="{BB962C8B-B14F-4D97-AF65-F5344CB8AC3E}">
        <p14:creationId xmlns:p14="http://schemas.microsoft.com/office/powerpoint/2010/main" val="173308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1F9D96-1E62-46A7-A86A-935C66EE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11010900" cy="666750"/>
          </a:xfrm>
        </p:spPr>
        <p:txBody>
          <a:bodyPr wrap="none" lIns="0" tIns="0" rIns="0" bIns="0" anchor="ctr">
            <a:noAutofit/>
          </a:bodyPr>
          <a:lstStyle/>
          <a:p>
            <a:pPr algn="ctr">
              <a:def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rPr>
              <a:t>GymTS 交付结果、过程证据与评价</a:t>
            </a:r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F5BAAA-AF49-91F9-59AC-5AE815D5FD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B3DF56-1CEB-909E-EBDA-22FAA694D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F5B677B-001A-4018-9A94-D6BA7B07D1A5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2362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实验与评价输入</a:t>
            </a:r>
          </a:p>
        </p:txBody>
      </p:sp>
      <p:sp>
        <p:nvSpPr>
          <p:cNvPr id="7" name="panel-6">
            <a:extLst>
              <a:ext uri="{FF2B5EF4-FFF2-40B4-BE49-F238E27FC236}">
                <a16:creationId xmlns:a16="http://schemas.microsoft.com/office/drawing/2014/main" id="{B6BA4032-BBB2-4B5E-8C25-D42D584A2AC2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2362200" cy="1476375"/>
          </a:xfrm>
          <a:prstGeom prst="roundRect">
            <a:avLst>
              <a:gd name="adj" fmla="val 5161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4804E2B-C988-4262-B3E0-416AD62EB0CD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2019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ExperimentSpec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DA782BC-C0A9-429A-A5C9-9319B05FDF90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20193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任务与绑定、环境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方法版本与参数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运行和记录设置</a:t>
            </a:r>
          </a:p>
        </p:txBody>
      </p:sp>
      <p:sp>
        <p:nvSpPr>
          <p:cNvPr id="10" name="panel-9">
            <a:extLst>
              <a:ext uri="{FF2B5EF4-FFF2-40B4-BE49-F238E27FC236}">
                <a16:creationId xmlns:a16="http://schemas.microsoft.com/office/drawing/2014/main" id="{12299AC7-BC24-4DE5-8ABB-01AA305AF0E7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2362200" cy="1190625"/>
          </a:xfrm>
          <a:prstGeom prst="roundRect">
            <a:avLst>
              <a:gd name="adj" fmla="val 6400"/>
            </a:avLst>
          </a:prstGeom>
          <a:solidFill>
            <a:srgbClr val="EAF7F3"/>
          </a:solidFill>
          <a:ln w="14288">
            <a:solidFill>
              <a:srgbClr val="167F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254176-6CFC-4BD1-8D26-D36D795936AC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2019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数据或实际系统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6E845253-4A3D-4379-BA5C-5778D77369D3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0193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历史、合成、仿真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现场查询或交互</a:t>
            </a:r>
          </a:p>
        </p:txBody>
      </p:sp>
      <p:sp>
        <p:nvSpPr>
          <p:cNvPr id="13" name="panel-12">
            <a:extLst>
              <a:ext uri="{FF2B5EF4-FFF2-40B4-BE49-F238E27FC236}">
                <a16:creationId xmlns:a16="http://schemas.microsoft.com/office/drawing/2014/main" id="{8EE46398-0F0A-4473-B47A-B5F3864DF537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2362200" cy="581025"/>
          </a:xfrm>
          <a:prstGeom prst="roundRect">
            <a:avLst>
              <a:gd name="adj" fmla="val 6557"/>
            </a:avLst>
          </a:prstGeom>
          <a:solidFill>
            <a:srgbClr val="F4EF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62EEAF41-8802-4B11-8BA3-FF4C77E766BE}"/>
              </a:ext>
            </a:extLst>
          </p:cNvPr>
          <p:cNvSpPr>
            <a:spLocks noGrp="1"/>
          </p:cNvSpPr>
          <p:nvPr/>
        </p:nvSpPr>
        <p:spPr>
          <a:xfrm>
            <a:off x="695325" y="5257800"/>
            <a:ext cx="22002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EvaluationSpec</a:t>
            </a:r>
          </a:p>
          <a:p>
            <a:pPr algn="l">
              <a:defRPr sz="165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ScoreSpec</a:t>
            </a:r>
          </a:p>
        </p:txBody>
      </p:sp>
      <p:sp>
        <p:nvSpPr>
          <p:cNvPr id="15" name="panel-14">
            <a:extLst>
              <a:ext uri="{FF2B5EF4-FFF2-40B4-BE49-F238E27FC236}">
                <a16:creationId xmlns:a16="http://schemas.microsoft.com/office/drawing/2014/main" id="{C7065D6D-073A-4D5B-AB1C-CDC455F9EFA6}"/>
              </a:ext>
            </a:extLst>
          </p:cNvPr>
          <p:cNvSpPr>
            <a:spLocks noGrp="1"/>
          </p:cNvSpPr>
          <p:nvPr/>
        </p:nvSpPr>
        <p:spPr>
          <a:xfrm>
            <a:off x="3381375" y="1428750"/>
            <a:ext cx="5067300" cy="4514850"/>
          </a:xfrm>
          <a:prstGeom prst="roundRect">
            <a:avLst>
              <a:gd name="adj" fmla="val 2532"/>
            </a:avLst>
          </a:prstGeom>
          <a:solidFill>
            <a:srgbClr val="FAFCFE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35DFD18C-E26F-4821-A10C-EB5F15E59D3C}"/>
              </a:ext>
            </a:extLst>
          </p:cNvPr>
          <p:cNvSpPr>
            <a:spLocks noGrp="1"/>
          </p:cNvSpPr>
          <p:nvPr/>
        </p:nvSpPr>
        <p:spPr>
          <a:xfrm>
            <a:off x="3562350" y="153352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GymTS</a:t>
            </a:r>
          </a:p>
        </p:txBody>
      </p:sp>
      <p:sp>
        <p:nvSpPr>
          <p:cNvPr id="17" name="panel-16">
            <a:extLst>
              <a:ext uri="{FF2B5EF4-FFF2-40B4-BE49-F238E27FC236}">
                <a16:creationId xmlns:a16="http://schemas.microsoft.com/office/drawing/2014/main" id="{BC0D62D7-73C0-4DBD-9178-C72196FCCB5D}"/>
              </a:ext>
            </a:extLst>
          </p:cNvPr>
          <p:cNvSpPr>
            <a:spLocks noGrp="1"/>
          </p:cNvSpPr>
          <p:nvPr/>
        </p:nvSpPr>
        <p:spPr>
          <a:xfrm>
            <a:off x="3571875" y="2047875"/>
            <a:ext cx="4686300" cy="1781175"/>
          </a:xfrm>
          <a:prstGeom prst="roundRect">
            <a:avLst>
              <a:gd name="adj" fmla="val 4278"/>
            </a:avLst>
          </a:prstGeom>
          <a:solidFill>
            <a:srgbClr val="EDF5FC"/>
          </a:solidFill>
          <a:ln w="14288">
            <a:solidFill>
              <a:srgbClr val="CCD9E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3059433B-4599-4D61-B1B8-C24EB24925B3}"/>
              </a:ext>
            </a:extLst>
          </p:cNvPr>
          <p:cNvSpPr>
            <a:spLocks noGrp="1"/>
          </p:cNvSpPr>
          <p:nvPr/>
        </p:nvSpPr>
        <p:spPr>
          <a:xfrm>
            <a:off x="3743325" y="2152650"/>
            <a:ext cx="419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EnvironmentTS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90967940-5EF0-4051-951A-D5426C9042C4}"/>
              </a:ext>
            </a:extLst>
          </p:cNvPr>
          <p:cNvSpPr>
            <a:spLocks noGrp="1"/>
          </p:cNvSpPr>
          <p:nvPr/>
        </p:nvSpPr>
        <p:spPr>
          <a:xfrm>
            <a:off x="3743325" y="2619375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Runner 组织一次实验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41EED9FF-D09B-4710-9EB4-6FB0504CA877}"/>
              </a:ext>
            </a:extLst>
          </p:cNvPr>
          <p:cNvSpPr>
            <a:spLocks noGrp="1"/>
          </p:cNvSpPr>
          <p:nvPr/>
        </p:nvSpPr>
        <p:spPr>
          <a:xfrm>
            <a:off x="3743325" y="2981325"/>
            <a:ext cx="4191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Environment 取数与交互</a:t>
            </a:r>
          </a:p>
          <a:p>
            <a:pPr algn="l">
              <a:defRPr sz="172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Task / Binding 解释任务 · Candidate 执行</a:t>
            </a:r>
          </a:p>
          <a:p>
            <a:pPr algn="l">
              <a:defRPr sz="172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records 关联输入、输出与版本</a:t>
            </a:r>
          </a:p>
        </p:txBody>
      </p:sp>
      <p:sp>
        <p:nvSpPr>
          <p:cNvPr id="21" name="panel-20">
            <a:extLst>
              <a:ext uri="{FF2B5EF4-FFF2-40B4-BE49-F238E27FC236}">
                <a16:creationId xmlns:a16="http://schemas.microsoft.com/office/drawing/2014/main" id="{AAC11DCB-45B4-460D-B2A3-9037A64511D7}"/>
              </a:ext>
            </a:extLst>
          </p:cNvPr>
          <p:cNvSpPr>
            <a:spLocks noGrp="1"/>
          </p:cNvSpPr>
          <p:nvPr/>
        </p:nvSpPr>
        <p:spPr>
          <a:xfrm>
            <a:off x="3571875" y="4429125"/>
            <a:ext cx="4686300" cy="1323975"/>
          </a:xfrm>
          <a:prstGeom prst="roundRect">
            <a:avLst>
              <a:gd name="adj" fmla="val 5755"/>
            </a:avLst>
          </a:prstGeom>
          <a:solidFill>
            <a:srgbClr val="F4EFFA"/>
          </a:solidFill>
          <a:ln w="14288">
            <a:solidFill>
              <a:srgbClr val="7550A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BFE5AB01-8F44-42B1-8D47-ACA5C83ADA69}"/>
              </a:ext>
            </a:extLst>
          </p:cNvPr>
          <p:cNvSpPr>
            <a:spLocks noGrp="1"/>
          </p:cNvSpPr>
          <p:nvPr/>
        </p:nvSpPr>
        <p:spPr>
          <a:xfrm>
            <a:off x="3743325" y="4543425"/>
            <a:ext cx="434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BenchTS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35010F0-0787-4349-9523-B1B6014688ED}"/>
              </a:ext>
            </a:extLst>
          </p:cNvPr>
          <p:cNvSpPr>
            <a:spLocks noGrp="1"/>
          </p:cNvSpPr>
          <p:nvPr/>
        </p:nvSpPr>
        <p:spPr>
          <a:xfrm>
            <a:off x="3743325" y="4953000"/>
            <a:ext cx="43434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固定案例、基线与规则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复用运行结果，评分并比较</a:t>
            </a:r>
          </a:p>
        </p:txBody>
      </p:sp>
      <p:sp>
        <p:nvSpPr>
          <p:cNvPr id="24" name="line-23">
            <a:extLst>
              <a:ext uri="{FF2B5EF4-FFF2-40B4-BE49-F238E27FC236}">
                <a16:creationId xmlns:a16="http://schemas.microsoft.com/office/drawing/2014/main" id="{13851EC8-95D8-4B20-9366-6E1EEB7728A1}"/>
              </a:ext>
            </a:extLst>
          </p:cNvPr>
          <p:cNvSpPr>
            <a:spLocks noGrp="1"/>
          </p:cNvSpPr>
          <p:nvPr/>
        </p:nvSpPr>
        <p:spPr>
          <a:xfrm>
            <a:off x="2971800" y="2581275"/>
            <a:ext cx="600075" cy="95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arrow-24">
            <a:extLst>
              <a:ext uri="{FF2B5EF4-FFF2-40B4-BE49-F238E27FC236}">
                <a16:creationId xmlns:a16="http://schemas.microsoft.com/office/drawing/2014/main" id="{B0640E0C-585F-449C-8ED7-150678B56B1F}"/>
              </a:ext>
            </a:extLst>
          </p:cNvPr>
          <p:cNvSpPr>
            <a:spLocks noGrp="1"/>
          </p:cNvSpPr>
          <p:nvPr/>
        </p:nvSpPr>
        <p:spPr>
          <a:xfrm rot="5400000">
            <a:off x="3524250" y="2533650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ine-25">
            <a:extLst>
              <a:ext uri="{FF2B5EF4-FFF2-40B4-BE49-F238E27FC236}">
                <a16:creationId xmlns:a16="http://schemas.microsoft.com/office/drawing/2014/main" id="{AF2B2C65-F3B8-4912-B063-6B1DA90BB504}"/>
              </a:ext>
            </a:extLst>
          </p:cNvPr>
          <p:cNvSpPr>
            <a:spLocks noGrp="1"/>
          </p:cNvSpPr>
          <p:nvPr/>
        </p:nvSpPr>
        <p:spPr>
          <a:xfrm>
            <a:off x="2971800" y="4143375"/>
            <a:ext cx="342900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arrow-26">
            <a:extLst>
              <a:ext uri="{FF2B5EF4-FFF2-40B4-BE49-F238E27FC236}">
                <a16:creationId xmlns:a16="http://schemas.microsoft.com/office/drawing/2014/main" id="{F01A3033-DA11-48FA-9A14-0351187F6020}"/>
              </a:ext>
            </a:extLst>
          </p:cNvPr>
          <p:cNvSpPr>
            <a:spLocks noGrp="1"/>
          </p:cNvSpPr>
          <p:nvPr/>
        </p:nvSpPr>
        <p:spPr>
          <a:xfrm rot="5400000">
            <a:off x="3267075" y="409575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-27">
            <a:extLst>
              <a:ext uri="{FF2B5EF4-FFF2-40B4-BE49-F238E27FC236}">
                <a16:creationId xmlns:a16="http://schemas.microsoft.com/office/drawing/2014/main" id="{F4B10B25-1414-4B63-B651-51885A56F910}"/>
              </a:ext>
            </a:extLst>
          </p:cNvPr>
          <p:cNvSpPr>
            <a:spLocks noGrp="1"/>
          </p:cNvSpPr>
          <p:nvPr/>
        </p:nvSpPr>
        <p:spPr>
          <a:xfrm>
            <a:off x="3314700" y="3419475"/>
            <a:ext cx="95" cy="723900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line-28">
            <a:extLst>
              <a:ext uri="{FF2B5EF4-FFF2-40B4-BE49-F238E27FC236}">
                <a16:creationId xmlns:a16="http://schemas.microsoft.com/office/drawing/2014/main" id="{D02620EB-3A85-441E-A830-8902AE7A84F1}"/>
              </a:ext>
            </a:extLst>
          </p:cNvPr>
          <p:cNvSpPr>
            <a:spLocks noGrp="1"/>
          </p:cNvSpPr>
          <p:nvPr/>
        </p:nvSpPr>
        <p:spPr>
          <a:xfrm>
            <a:off x="3314700" y="3419475"/>
            <a:ext cx="257175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arrow-29">
            <a:extLst>
              <a:ext uri="{FF2B5EF4-FFF2-40B4-BE49-F238E27FC236}">
                <a16:creationId xmlns:a16="http://schemas.microsoft.com/office/drawing/2014/main" id="{60F3247C-67EC-48E2-977B-B25B6C6E0023}"/>
              </a:ext>
            </a:extLst>
          </p:cNvPr>
          <p:cNvSpPr>
            <a:spLocks noGrp="1"/>
          </p:cNvSpPr>
          <p:nvPr/>
        </p:nvSpPr>
        <p:spPr>
          <a:xfrm rot="5400000">
            <a:off x="3524250" y="337185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line-30">
            <a:extLst>
              <a:ext uri="{FF2B5EF4-FFF2-40B4-BE49-F238E27FC236}">
                <a16:creationId xmlns:a16="http://schemas.microsoft.com/office/drawing/2014/main" id="{80320916-9FE2-4CB5-BFAF-E83C15CFAC0E}"/>
              </a:ext>
            </a:extLst>
          </p:cNvPr>
          <p:cNvSpPr>
            <a:spLocks noGrp="1"/>
          </p:cNvSpPr>
          <p:nvPr/>
        </p:nvSpPr>
        <p:spPr>
          <a:xfrm>
            <a:off x="2971800" y="5400675"/>
            <a:ext cx="600075" cy="95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arrow-31">
            <a:extLst>
              <a:ext uri="{FF2B5EF4-FFF2-40B4-BE49-F238E27FC236}">
                <a16:creationId xmlns:a16="http://schemas.microsoft.com/office/drawing/2014/main" id="{AB622A23-3FE5-4DAB-9377-B5ACFA7FB436}"/>
              </a:ext>
            </a:extLst>
          </p:cNvPr>
          <p:cNvSpPr>
            <a:spLocks noGrp="1"/>
          </p:cNvSpPr>
          <p:nvPr/>
        </p:nvSpPr>
        <p:spPr>
          <a:xfrm rot="5400000">
            <a:off x="3524250" y="5353050"/>
            <a:ext cx="95250" cy="95250"/>
          </a:xfrm>
          <a:prstGeom prst="triangle">
            <a:avLst/>
          </a:prstGeom>
          <a:solidFill>
            <a:srgbClr val="7550A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line-32">
            <a:extLst>
              <a:ext uri="{FF2B5EF4-FFF2-40B4-BE49-F238E27FC236}">
                <a16:creationId xmlns:a16="http://schemas.microsoft.com/office/drawing/2014/main" id="{46A410DF-3FCD-4416-B7FE-5EC93D923291}"/>
              </a:ext>
            </a:extLst>
          </p:cNvPr>
          <p:cNvSpPr>
            <a:spLocks noGrp="1"/>
          </p:cNvSpPr>
          <p:nvPr/>
        </p:nvSpPr>
        <p:spPr>
          <a:xfrm>
            <a:off x="5924550" y="3876675"/>
            <a:ext cx="95" cy="552450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arrow-33">
            <a:extLst>
              <a:ext uri="{FF2B5EF4-FFF2-40B4-BE49-F238E27FC236}">
                <a16:creationId xmlns:a16="http://schemas.microsoft.com/office/drawing/2014/main" id="{DF258993-B312-42AC-BBB0-B4367559FE78}"/>
              </a:ext>
            </a:extLst>
          </p:cNvPr>
          <p:cNvSpPr>
            <a:spLocks noGrp="1"/>
          </p:cNvSpPr>
          <p:nvPr/>
        </p:nvSpPr>
        <p:spPr>
          <a:xfrm>
            <a:off x="5876925" y="3829050"/>
            <a:ext cx="95250" cy="95250"/>
          </a:xfrm>
          <a:prstGeom prst="triangle">
            <a:avLst/>
          </a:prstGeom>
          <a:solidFill>
            <a:srgbClr val="7550A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62799B0F-F509-4859-BCC5-ACB246C4F65F}"/>
              </a:ext>
            </a:extLst>
          </p:cNvPr>
          <p:cNvSpPr>
            <a:spLocks noGrp="1"/>
          </p:cNvSpPr>
          <p:nvPr/>
        </p:nvSpPr>
        <p:spPr>
          <a:xfrm>
            <a:off x="6067425" y="3933825"/>
            <a:ext cx="21240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新实验复用运行能力</a:t>
            </a:r>
          </a:p>
        </p:txBody>
      </p:sp>
      <p:sp>
        <p:nvSpPr>
          <p:cNvPr id="36" name="line-35">
            <a:extLst>
              <a:ext uri="{FF2B5EF4-FFF2-40B4-BE49-F238E27FC236}">
                <a16:creationId xmlns:a16="http://schemas.microsoft.com/office/drawing/2014/main" id="{7752AB55-A3E3-43E5-A0B0-73E1174E0C47}"/>
              </a:ext>
            </a:extLst>
          </p:cNvPr>
          <p:cNvSpPr>
            <a:spLocks noGrp="1"/>
          </p:cNvSpPr>
          <p:nvPr/>
        </p:nvSpPr>
        <p:spPr>
          <a:xfrm>
            <a:off x="5048250" y="3829050"/>
            <a:ext cx="95" cy="60007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arrow-36">
            <a:extLst>
              <a:ext uri="{FF2B5EF4-FFF2-40B4-BE49-F238E27FC236}">
                <a16:creationId xmlns:a16="http://schemas.microsoft.com/office/drawing/2014/main" id="{22014083-8608-43CA-B1A0-62DB6097B4DC}"/>
              </a:ext>
            </a:extLst>
          </p:cNvPr>
          <p:cNvSpPr>
            <a:spLocks noGrp="1"/>
          </p:cNvSpPr>
          <p:nvPr/>
        </p:nvSpPr>
        <p:spPr>
          <a:xfrm rot="10800000">
            <a:off x="5000625" y="438150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-37">
            <a:extLst>
              <a:ext uri="{FF2B5EF4-FFF2-40B4-BE49-F238E27FC236}">
                <a16:creationId xmlns:a16="http://schemas.microsoft.com/office/drawing/2014/main" id="{E24AD7F6-F0C9-4986-9307-7FC6F50CDBA5}"/>
              </a:ext>
            </a:extLst>
          </p:cNvPr>
          <p:cNvSpPr>
            <a:spLocks noGrp="1"/>
          </p:cNvSpPr>
          <p:nvPr/>
        </p:nvSpPr>
        <p:spPr>
          <a:xfrm>
            <a:off x="3743325" y="3943350"/>
            <a:ext cx="12287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ResultView</a:t>
            </a:r>
          </a:p>
        </p:txBody>
      </p:sp>
      <p:sp>
        <p:nvSpPr>
          <p:cNvPr id="39" name="text-38">
            <a:extLst>
              <a:ext uri="{FF2B5EF4-FFF2-40B4-BE49-F238E27FC236}">
                <a16:creationId xmlns:a16="http://schemas.microsoft.com/office/drawing/2014/main" id="{A113C6B1-D59F-4955-A19A-B5D292556508}"/>
              </a:ext>
            </a:extLst>
          </p:cNvPr>
          <p:cNvSpPr>
            <a:spLocks noGrp="1"/>
          </p:cNvSpPr>
          <p:nvPr/>
        </p:nvSpPr>
        <p:spPr>
          <a:xfrm>
            <a:off x="8886825" y="1447800"/>
            <a:ext cx="2686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交给实验发起者</a:t>
            </a:r>
          </a:p>
        </p:txBody>
      </p:sp>
      <p:sp>
        <p:nvSpPr>
          <p:cNvPr id="40" name="panel-39">
            <a:extLst>
              <a:ext uri="{FF2B5EF4-FFF2-40B4-BE49-F238E27FC236}">
                <a16:creationId xmlns:a16="http://schemas.microsoft.com/office/drawing/2014/main" id="{CBD78DEB-ED58-4AA7-88DD-6209ED0A376F}"/>
              </a:ext>
            </a:extLst>
          </p:cNvPr>
          <p:cNvSpPr>
            <a:spLocks noGrp="1"/>
          </p:cNvSpPr>
          <p:nvPr/>
        </p:nvSpPr>
        <p:spPr>
          <a:xfrm>
            <a:off x="8886825" y="2105025"/>
            <a:ext cx="2695575" cy="1724025"/>
          </a:xfrm>
          <a:prstGeom prst="roundRect">
            <a:avLst>
              <a:gd name="adj" fmla="val 4420"/>
            </a:avLst>
          </a:prstGeom>
          <a:solidFill>
            <a:srgbClr val="EAF7F3"/>
          </a:solidFill>
          <a:ln w="14288">
            <a:solidFill>
              <a:srgbClr val="167F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-40">
            <a:extLst>
              <a:ext uri="{FF2B5EF4-FFF2-40B4-BE49-F238E27FC236}">
                <a16:creationId xmlns:a16="http://schemas.microsoft.com/office/drawing/2014/main" id="{7F1CE559-3F9E-4004-90C1-169176850A73}"/>
              </a:ext>
            </a:extLst>
          </p:cNvPr>
          <p:cNvSpPr>
            <a:spLocks noGrp="1"/>
          </p:cNvSpPr>
          <p:nvPr/>
        </p:nvSpPr>
        <p:spPr>
          <a:xfrm>
            <a:off x="9058275" y="2219325"/>
            <a:ext cx="23526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运行结果与记录</a:t>
            </a:r>
          </a:p>
        </p:txBody>
      </p:sp>
      <p:sp>
        <p:nvSpPr>
          <p:cNvPr id="42" name="text-41">
            <a:extLst>
              <a:ext uri="{FF2B5EF4-FFF2-40B4-BE49-F238E27FC236}">
                <a16:creationId xmlns:a16="http://schemas.microsoft.com/office/drawing/2014/main" id="{C049082C-CC2D-4C45-9DEC-A76378077F60}"/>
              </a:ext>
            </a:extLst>
          </p:cNvPr>
          <p:cNvSpPr>
            <a:spLocks noGrp="1"/>
          </p:cNvSpPr>
          <p:nvPr/>
        </p:nvSpPr>
        <p:spPr>
          <a:xfrm>
            <a:off x="9058275" y="2628900"/>
            <a:ext cx="235267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RunResult / RunRecord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任务结果、结束情况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输入输出、交互与版本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产物与固定引用</a:t>
            </a:r>
          </a:p>
        </p:txBody>
      </p:sp>
      <p:sp>
        <p:nvSpPr>
          <p:cNvPr id="43" name="panel-42">
            <a:extLst>
              <a:ext uri="{FF2B5EF4-FFF2-40B4-BE49-F238E27FC236}">
                <a16:creationId xmlns:a16="http://schemas.microsoft.com/office/drawing/2014/main" id="{2B4EEB8C-4F49-47FD-9A2D-84CF39FF2548}"/>
              </a:ext>
            </a:extLst>
          </p:cNvPr>
          <p:cNvSpPr>
            <a:spLocks noGrp="1"/>
          </p:cNvSpPr>
          <p:nvPr/>
        </p:nvSpPr>
        <p:spPr>
          <a:xfrm>
            <a:off x="8886825" y="4429125"/>
            <a:ext cx="2695575" cy="1323975"/>
          </a:xfrm>
          <a:prstGeom prst="roundRect">
            <a:avLst>
              <a:gd name="adj" fmla="val 5755"/>
            </a:avLst>
          </a:prstGeom>
          <a:solidFill>
            <a:srgbClr val="F4EFFA"/>
          </a:solidFill>
          <a:ln w="14288">
            <a:solidFill>
              <a:srgbClr val="7550A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-43">
            <a:extLst>
              <a:ext uri="{FF2B5EF4-FFF2-40B4-BE49-F238E27FC236}">
                <a16:creationId xmlns:a16="http://schemas.microsoft.com/office/drawing/2014/main" id="{743B0E85-9265-4109-8446-84C286D82C01}"/>
              </a:ext>
            </a:extLst>
          </p:cNvPr>
          <p:cNvSpPr>
            <a:spLocks noGrp="1"/>
          </p:cNvSpPr>
          <p:nvPr/>
        </p:nvSpPr>
        <p:spPr>
          <a:xfrm>
            <a:off x="9058275" y="4543425"/>
            <a:ext cx="23526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EvaluationReport</a:t>
            </a:r>
          </a:p>
        </p:txBody>
      </p:sp>
      <p:sp>
        <p:nvSpPr>
          <p:cNvPr id="45" name="text-44">
            <a:extLst>
              <a:ext uri="{FF2B5EF4-FFF2-40B4-BE49-F238E27FC236}">
                <a16:creationId xmlns:a16="http://schemas.microsoft.com/office/drawing/2014/main" id="{33ECC471-DC4B-488E-8A4C-68162D8C09ED}"/>
              </a:ext>
            </a:extLst>
          </p:cNvPr>
          <p:cNvSpPr>
            <a:spLocks noGrp="1"/>
          </p:cNvSpPr>
          <p:nvPr/>
        </p:nvSpPr>
        <p:spPr>
          <a:xfrm>
            <a:off x="9058275" y="4953000"/>
            <a:ext cx="23526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指标与基线差异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门槛判断、计分范围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评价证据引用</a:t>
            </a:r>
          </a:p>
        </p:txBody>
      </p:sp>
      <p:sp>
        <p:nvSpPr>
          <p:cNvPr id="46" name="line-45">
            <a:extLst>
              <a:ext uri="{FF2B5EF4-FFF2-40B4-BE49-F238E27FC236}">
                <a16:creationId xmlns:a16="http://schemas.microsoft.com/office/drawing/2014/main" id="{71233605-1FC8-4B31-B7AF-E0CB834EB9F7}"/>
              </a:ext>
            </a:extLst>
          </p:cNvPr>
          <p:cNvSpPr>
            <a:spLocks noGrp="1"/>
          </p:cNvSpPr>
          <p:nvPr/>
        </p:nvSpPr>
        <p:spPr>
          <a:xfrm>
            <a:off x="8258175" y="2952750"/>
            <a:ext cx="628650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arrow-46">
            <a:extLst>
              <a:ext uri="{FF2B5EF4-FFF2-40B4-BE49-F238E27FC236}">
                <a16:creationId xmlns:a16="http://schemas.microsoft.com/office/drawing/2014/main" id="{8C64FDB0-3A40-4B77-886E-B68D9E6F8B5C}"/>
              </a:ext>
            </a:extLst>
          </p:cNvPr>
          <p:cNvSpPr>
            <a:spLocks noGrp="1"/>
          </p:cNvSpPr>
          <p:nvPr/>
        </p:nvSpPr>
        <p:spPr>
          <a:xfrm rot="5400000">
            <a:off x="8839200" y="2905125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line-47">
            <a:extLst>
              <a:ext uri="{FF2B5EF4-FFF2-40B4-BE49-F238E27FC236}">
                <a16:creationId xmlns:a16="http://schemas.microsoft.com/office/drawing/2014/main" id="{21F9CCB9-4E45-4888-9C64-CDE8FFEB03AF}"/>
              </a:ext>
            </a:extLst>
          </p:cNvPr>
          <p:cNvSpPr>
            <a:spLocks noGrp="1"/>
          </p:cNvSpPr>
          <p:nvPr/>
        </p:nvSpPr>
        <p:spPr>
          <a:xfrm>
            <a:off x="8258175" y="5095875"/>
            <a:ext cx="628650" cy="95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arrow-48">
            <a:extLst>
              <a:ext uri="{FF2B5EF4-FFF2-40B4-BE49-F238E27FC236}">
                <a16:creationId xmlns:a16="http://schemas.microsoft.com/office/drawing/2014/main" id="{0BB8CFE8-CE63-4B02-AEAF-7811A9BCB071}"/>
              </a:ext>
            </a:extLst>
          </p:cNvPr>
          <p:cNvSpPr>
            <a:spLocks noGrp="1"/>
          </p:cNvSpPr>
          <p:nvPr/>
        </p:nvSpPr>
        <p:spPr>
          <a:xfrm rot="5400000">
            <a:off x="8839200" y="5048250"/>
            <a:ext cx="95250" cy="95250"/>
          </a:xfrm>
          <a:prstGeom prst="triangle">
            <a:avLst/>
          </a:prstGeom>
          <a:solidFill>
            <a:srgbClr val="7550A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66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781D230C-7BE4-8C99-0F2E-C3F909F40C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zh-CN" altLang="en-US"/>
              <a:t>标题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E70459-B2FB-6C55-73AC-22E1189895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rPr lang="en-US" altLang="zh-CN" smtClean="0"/>
              <a:t>3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A215D3A-A78F-A088-D63B-8B8FC8F9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GymTS</a:t>
            </a:r>
            <a:r>
              <a:rPr kumimoji="1" lang="zh-CN" altLang="en-US" dirty="0"/>
              <a:t>全景图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D9B99C-5F4C-2E86-7269-E6CDC5A61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32" y="1185198"/>
            <a:ext cx="5316203" cy="50594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5D85835-6CCB-9CA2-693F-7CEE666B168C}"/>
              </a:ext>
            </a:extLst>
          </p:cNvPr>
          <p:cNvSpPr txBox="1"/>
          <p:nvPr/>
        </p:nvSpPr>
        <p:spPr>
          <a:xfrm>
            <a:off x="6152150" y="1505415"/>
            <a:ext cx="5060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hlinkClick r:id="rId3"/>
              </a:rPr>
              <a:t>https://w0mtlg6swcu.feishu.cn/docx/Vd7ad9R46oUx9lxiKIcclJzFnOc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69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1F9D96-1E62-46A7-A86A-935C66EE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11010900" cy="666750"/>
          </a:xfrm>
        </p:spPr>
        <p:txBody>
          <a:bodyPr wrap="none" lIns="0" tIns="0" rIns="0" bIns="0" anchor="ctr">
            <a:noAutofit/>
          </a:bodyPr>
          <a:lstStyle/>
          <a:p>
            <a:pPr algn="ctr">
              <a:def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rPr>
              <a:t>一次 Run 怎样形成结果与反馈</a:t>
            </a:r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F5BAAA-AF49-91F9-59AC-5AE815D5FD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B3DF56-1CEB-909E-EBDA-22FAA694D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fld id="{202359C0-8A7A-196E-DD58-8E6569619F09}" type="slidenum"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/>
          </a:p>
        </p:txBody>
      </p:sp>
      <p:sp>
        <p:nvSpPr>
          <p:cNvPr id="6" name="panel-49">
            <a:extLst>
              <a:ext uri="{FF2B5EF4-FFF2-40B4-BE49-F238E27FC236}">
                <a16:creationId xmlns:a16="http://schemas.microsoft.com/office/drawing/2014/main" id="{C05250E3-796C-41DB-B227-45AF7547310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EDF5FC"/>
          </a:solidFill>
          <a:ln w="14288">
            <a:solidFill>
              <a:srgbClr val="CCD9E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50">
            <a:extLst>
              <a:ext uri="{FF2B5EF4-FFF2-40B4-BE49-F238E27FC236}">
                <a16:creationId xmlns:a16="http://schemas.microsoft.com/office/drawing/2014/main" id="{66902A27-F384-44F1-94D7-90E9D0B6BA1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591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Runner：解析计划 → 装配会话 → 组织调用 → 判断结束 → 汇总结果</a:t>
            </a:r>
          </a:p>
        </p:txBody>
      </p:sp>
      <p:sp>
        <p:nvSpPr>
          <p:cNvPr id="8" name="panel-51">
            <a:extLst>
              <a:ext uri="{FF2B5EF4-FFF2-40B4-BE49-F238E27FC236}">
                <a16:creationId xmlns:a16="http://schemas.microsoft.com/office/drawing/2014/main" id="{20E03083-01D3-4F54-A0E6-A117C24CB97A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200275" cy="1304925"/>
          </a:xfrm>
          <a:prstGeom prst="roundRect">
            <a:avLst>
              <a:gd name="adj" fmla="val 5839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-52">
            <a:extLst>
              <a:ext uri="{FF2B5EF4-FFF2-40B4-BE49-F238E27FC236}">
                <a16:creationId xmlns:a16="http://schemas.microsoft.com/office/drawing/2014/main" id="{B8BCC830-43A0-4736-971A-634354F33C76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1857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10" name="text-53">
            <a:extLst>
              <a:ext uri="{FF2B5EF4-FFF2-40B4-BE49-F238E27FC236}">
                <a16:creationId xmlns:a16="http://schemas.microsoft.com/office/drawing/2014/main" id="{AFBC342C-3921-4D87-8051-79D230CEAE8A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18573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交付观测与反馈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读取或操作后端</a:t>
            </a:r>
          </a:p>
        </p:txBody>
      </p:sp>
      <p:sp>
        <p:nvSpPr>
          <p:cNvPr id="11" name="panel-54">
            <a:extLst>
              <a:ext uri="{FF2B5EF4-FFF2-40B4-BE49-F238E27FC236}">
                <a16:creationId xmlns:a16="http://schemas.microsoft.com/office/drawing/2014/main" id="{7F1AC5DA-1856-49D1-BEAE-63333798B4EC}"/>
              </a:ext>
            </a:extLst>
          </p:cNvPr>
          <p:cNvSpPr>
            <a:spLocks noGrp="1"/>
          </p:cNvSpPr>
          <p:nvPr/>
        </p:nvSpPr>
        <p:spPr>
          <a:xfrm>
            <a:off x="3533775" y="2762250"/>
            <a:ext cx="2200275" cy="1304925"/>
          </a:xfrm>
          <a:prstGeom prst="roundRect">
            <a:avLst>
              <a:gd name="adj" fmla="val 5839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-55">
            <a:extLst>
              <a:ext uri="{FF2B5EF4-FFF2-40B4-BE49-F238E27FC236}">
                <a16:creationId xmlns:a16="http://schemas.microsoft.com/office/drawing/2014/main" id="{1CA6C92F-AD1D-4E8A-8499-5BCCEB96580F}"/>
              </a:ext>
            </a:extLst>
          </p:cNvPr>
          <p:cNvSpPr>
            <a:spLocks noGrp="1"/>
          </p:cNvSpPr>
          <p:nvPr/>
        </p:nvSpPr>
        <p:spPr>
          <a:xfrm>
            <a:off x="3705225" y="2876550"/>
            <a:ext cx="1857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dirty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Task</a:t>
            </a:r>
            <a:r>
              <a:rPr lang="en" sz="1950" b="1" dirty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.consume</a:t>
            </a:r>
            <a:endParaRPr sz="1950" b="1" dirty="0">
              <a:solidFill>
                <a:srgbClr val="2466A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-56">
            <a:extLst>
              <a:ext uri="{FF2B5EF4-FFF2-40B4-BE49-F238E27FC236}">
                <a16:creationId xmlns:a16="http://schemas.microsoft.com/office/drawing/2014/main" id="{C0D5865E-0EA1-45EE-83C8-43369ACA1DA7}"/>
              </a:ext>
            </a:extLst>
          </p:cNvPr>
          <p:cNvSpPr>
            <a:spLocks noGrp="1"/>
          </p:cNvSpPr>
          <p:nvPr/>
        </p:nvSpPr>
        <p:spPr>
          <a:xfrm>
            <a:off x="3705225" y="3286125"/>
            <a:ext cx="18573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构造窗口与目标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附带允许的上下文</a:t>
            </a:r>
          </a:p>
        </p:txBody>
      </p:sp>
      <p:sp>
        <p:nvSpPr>
          <p:cNvPr id="14" name="panel-57">
            <a:extLst>
              <a:ext uri="{FF2B5EF4-FFF2-40B4-BE49-F238E27FC236}">
                <a16:creationId xmlns:a16="http://schemas.microsoft.com/office/drawing/2014/main" id="{68167C9F-0F85-4660-9479-8BE1264E4584}"/>
              </a:ext>
            </a:extLst>
          </p:cNvPr>
          <p:cNvSpPr>
            <a:spLocks noGrp="1"/>
          </p:cNvSpPr>
          <p:nvPr/>
        </p:nvSpPr>
        <p:spPr>
          <a:xfrm>
            <a:off x="6457950" y="2762250"/>
            <a:ext cx="2200275" cy="1304925"/>
          </a:xfrm>
          <a:prstGeom prst="roundRect">
            <a:avLst>
              <a:gd name="adj" fmla="val 5839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-58">
            <a:extLst>
              <a:ext uri="{FF2B5EF4-FFF2-40B4-BE49-F238E27FC236}">
                <a16:creationId xmlns:a16="http://schemas.microsoft.com/office/drawing/2014/main" id="{5398D0C8-6067-4B6D-BBF5-ADB8F7F6B079}"/>
              </a:ext>
            </a:extLst>
          </p:cNvPr>
          <p:cNvSpPr>
            <a:spLocks noGrp="1"/>
          </p:cNvSpPr>
          <p:nvPr/>
        </p:nvSpPr>
        <p:spPr>
          <a:xfrm>
            <a:off x="6629400" y="2876550"/>
            <a:ext cx="1857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Candidate</a:t>
            </a:r>
          </a:p>
        </p:txBody>
      </p:sp>
      <p:sp>
        <p:nvSpPr>
          <p:cNvPr id="16" name="text-59">
            <a:extLst>
              <a:ext uri="{FF2B5EF4-FFF2-40B4-BE49-F238E27FC236}">
                <a16:creationId xmlns:a16="http://schemas.microsoft.com/office/drawing/2014/main" id="{CB9BFA34-3968-4D80-8C0A-3773AB3099D9}"/>
              </a:ext>
            </a:extLst>
          </p:cNvPr>
          <p:cNvSpPr>
            <a:spLocks noGrp="1"/>
          </p:cNvSpPr>
          <p:nvPr/>
        </p:nvSpPr>
        <p:spPr>
          <a:xfrm>
            <a:off x="6629400" y="3286125"/>
            <a:ext cx="18573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调用算法 / 模型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流水线 / Agent</a:t>
            </a:r>
          </a:p>
        </p:txBody>
      </p:sp>
      <p:sp>
        <p:nvSpPr>
          <p:cNvPr id="17" name="panel-60">
            <a:extLst>
              <a:ext uri="{FF2B5EF4-FFF2-40B4-BE49-F238E27FC236}">
                <a16:creationId xmlns:a16="http://schemas.microsoft.com/office/drawing/2014/main" id="{8FAD0C63-4297-4473-BF24-E44CF822A9BF}"/>
              </a:ext>
            </a:extLst>
          </p:cNvPr>
          <p:cNvSpPr>
            <a:spLocks noGrp="1"/>
          </p:cNvSpPr>
          <p:nvPr/>
        </p:nvSpPr>
        <p:spPr>
          <a:xfrm>
            <a:off x="9382125" y="2762250"/>
            <a:ext cx="2200275" cy="1304925"/>
          </a:xfrm>
          <a:prstGeom prst="roundRect">
            <a:avLst>
              <a:gd name="adj" fmla="val 5839"/>
            </a:avLst>
          </a:prstGeom>
          <a:solidFill>
            <a:srgbClr val="FFF5E8"/>
          </a:solidFill>
          <a:ln w="14288">
            <a:solidFill>
              <a:srgbClr val="B873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-61">
            <a:extLst>
              <a:ext uri="{FF2B5EF4-FFF2-40B4-BE49-F238E27FC236}">
                <a16:creationId xmlns:a16="http://schemas.microsoft.com/office/drawing/2014/main" id="{8DB1142B-228E-41C5-92A9-169D6ADE4C31}"/>
              </a:ext>
            </a:extLst>
          </p:cNvPr>
          <p:cNvSpPr>
            <a:spLocks noGrp="1"/>
          </p:cNvSpPr>
          <p:nvPr/>
        </p:nvSpPr>
        <p:spPr>
          <a:xfrm>
            <a:off x="9553575" y="2876550"/>
            <a:ext cx="1857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Task.interpret</a:t>
            </a:r>
          </a:p>
        </p:txBody>
      </p:sp>
      <p:sp>
        <p:nvSpPr>
          <p:cNvPr id="19" name="text-62">
            <a:extLst>
              <a:ext uri="{FF2B5EF4-FFF2-40B4-BE49-F238E27FC236}">
                <a16:creationId xmlns:a16="http://schemas.microsoft.com/office/drawing/2014/main" id="{8711DFCF-8F78-4357-865A-21D7785BD513}"/>
              </a:ext>
            </a:extLst>
          </p:cNvPr>
          <p:cNvSpPr>
            <a:spLocks noGrp="1"/>
          </p:cNvSpPr>
          <p:nvPr/>
        </p:nvSpPr>
        <p:spPr>
          <a:xfrm>
            <a:off x="9553575" y="3286125"/>
            <a:ext cx="18573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解释原始输出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形成结果或请求</a:t>
            </a:r>
          </a:p>
        </p:txBody>
      </p:sp>
      <p:sp>
        <p:nvSpPr>
          <p:cNvPr id="20" name="line-63">
            <a:extLst>
              <a:ext uri="{FF2B5EF4-FFF2-40B4-BE49-F238E27FC236}">
                <a16:creationId xmlns:a16="http://schemas.microsoft.com/office/drawing/2014/main" id="{ECD04B17-BB51-4110-B948-A3C26D965E01}"/>
              </a:ext>
            </a:extLst>
          </p:cNvPr>
          <p:cNvSpPr>
            <a:spLocks noGrp="1"/>
          </p:cNvSpPr>
          <p:nvPr/>
        </p:nvSpPr>
        <p:spPr>
          <a:xfrm>
            <a:off x="2809875" y="3362325"/>
            <a:ext cx="723900" cy="95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arrow-64">
            <a:extLst>
              <a:ext uri="{FF2B5EF4-FFF2-40B4-BE49-F238E27FC236}">
                <a16:creationId xmlns:a16="http://schemas.microsoft.com/office/drawing/2014/main" id="{6EBED84C-D9E1-4054-A137-1B832C0EC385}"/>
              </a:ext>
            </a:extLst>
          </p:cNvPr>
          <p:cNvSpPr>
            <a:spLocks noGrp="1"/>
          </p:cNvSpPr>
          <p:nvPr/>
        </p:nvSpPr>
        <p:spPr>
          <a:xfrm rot="5400000">
            <a:off x="3486150" y="3314700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line-65">
            <a:extLst>
              <a:ext uri="{FF2B5EF4-FFF2-40B4-BE49-F238E27FC236}">
                <a16:creationId xmlns:a16="http://schemas.microsoft.com/office/drawing/2014/main" id="{A8A4B630-0E1F-4AAB-A870-44377B3B70B2}"/>
              </a:ext>
            </a:extLst>
          </p:cNvPr>
          <p:cNvSpPr>
            <a:spLocks noGrp="1"/>
          </p:cNvSpPr>
          <p:nvPr/>
        </p:nvSpPr>
        <p:spPr>
          <a:xfrm>
            <a:off x="5734050" y="3362325"/>
            <a:ext cx="723900" cy="95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rrow-66">
            <a:extLst>
              <a:ext uri="{FF2B5EF4-FFF2-40B4-BE49-F238E27FC236}">
                <a16:creationId xmlns:a16="http://schemas.microsoft.com/office/drawing/2014/main" id="{ACEE0BCA-3924-4947-89B2-0254AF267074}"/>
              </a:ext>
            </a:extLst>
          </p:cNvPr>
          <p:cNvSpPr>
            <a:spLocks noGrp="1"/>
          </p:cNvSpPr>
          <p:nvPr/>
        </p:nvSpPr>
        <p:spPr>
          <a:xfrm rot="5400000">
            <a:off x="6410325" y="3314700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ine-67">
            <a:extLst>
              <a:ext uri="{FF2B5EF4-FFF2-40B4-BE49-F238E27FC236}">
                <a16:creationId xmlns:a16="http://schemas.microsoft.com/office/drawing/2014/main" id="{C1A16A02-106B-4B52-9EC2-8A0CA7A8F5D5}"/>
              </a:ext>
            </a:extLst>
          </p:cNvPr>
          <p:cNvSpPr>
            <a:spLocks noGrp="1"/>
          </p:cNvSpPr>
          <p:nvPr/>
        </p:nvSpPr>
        <p:spPr>
          <a:xfrm>
            <a:off x="8658225" y="3362325"/>
            <a:ext cx="723900" cy="95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arrow-68">
            <a:extLst>
              <a:ext uri="{FF2B5EF4-FFF2-40B4-BE49-F238E27FC236}">
                <a16:creationId xmlns:a16="http://schemas.microsoft.com/office/drawing/2014/main" id="{B8985C3C-588C-4AA7-A610-06522668A2A9}"/>
              </a:ext>
            </a:extLst>
          </p:cNvPr>
          <p:cNvSpPr>
            <a:spLocks noGrp="1"/>
          </p:cNvSpPr>
          <p:nvPr/>
        </p:nvSpPr>
        <p:spPr>
          <a:xfrm rot="5400000">
            <a:off x="9334500" y="3314700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-69">
            <a:extLst>
              <a:ext uri="{FF2B5EF4-FFF2-40B4-BE49-F238E27FC236}">
                <a16:creationId xmlns:a16="http://schemas.microsoft.com/office/drawing/2014/main" id="{24ECB5D0-2736-4447-9904-89BCBCFE700B}"/>
              </a:ext>
            </a:extLst>
          </p:cNvPr>
          <p:cNvSpPr>
            <a:spLocks noGrp="1"/>
          </p:cNvSpPr>
          <p:nvPr/>
        </p:nvSpPr>
        <p:spPr>
          <a:xfrm>
            <a:off x="2266950" y="23241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ObservationBatch</a:t>
            </a:r>
          </a:p>
        </p:txBody>
      </p:sp>
      <p:sp>
        <p:nvSpPr>
          <p:cNvPr id="27" name="text-70">
            <a:extLst>
              <a:ext uri="{FF2B5EF4-FFF2-40B4-BE49-F238E27FC236}">
                <a16:creationId xmlns:a16="http://schemas.microsoft.com/office/drawing/2014/main" id="{E47B1E3D-6621-4969-A812-ED5FCA5941EC}"/>
              </a:ext>
            </a:extLst>
          </p:cNvPr>
          <p:cNvSpPr>
            <a:spLocks noGrp="1"/>
          </p:cNvSpPr>
          <p:nvPr/>
        </p:nvSpPr>
        <p:spPr>
          <a:xfrm>
            <a:off x="5248275" y="232410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TaskInput</a:t>
            </a:r>
          </a:p>
        </p:txBody>
      </p:sp>
      <p:sp>
        <p:nvSpPr>
          <p:cNvPr id="28" name="text-71">
            <a:extLst>
              <a:ext uri="{FF2B5EF4-FFF2-40B4-BE49-F238E27FC236}">
                <a16:creationId xmlns:a16="http://schemas.microsoft.com/office/drawing/2014/main" id="{77C797B2-F6D3-4FBA-B126-36DDD150DEE2}"/>
              </a:ext>
            </a:extLst>
          </p:cNvPr>
          <p:cNvSpPr>
            <a:spLocks noGrp="1"/>
          </p:cNvSpPr>
          <p:nvPr/>
        </p:nvSpPr>
        <p:spPr>
          <a:xfrm>
            <a:off x="8172450" y="2324100"/>
            <a:ext cx="16859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CandidateOutput</a:t>
            </a:r>
          </a:p>
        </p:txBody>
      </p:sp>
      <p:sp>
        <p:nvSpPr>
          <p:cNvPr id="29" name="line-72">
            <a:extLst>
              <a:ext uri="{FF2B5EF4-FFF2-40B4-BE49-F238E27FC236}">
                <a16:creationId xmlns:a16="http://schemas.microsoft.com/office/drawing/2014/main" id="{06BEEDA4-B844-4260-B705-9E4000A3F491}"/>
              </a:ext>
            </a:extLst>
          </p:cNvPr>
          <p:cNvSpPr>
            <a:spLocks noGrp="1"/>
          </p:cNvSpPr>
          <p:nvPr/>
        </p:nvSpPr>
        <p:spPr>
          <a:xfrm>
            <a:off x="10477500" y="4076700"/>
            <a:ext cx="95" cy="447675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line-73">
            <a:extLst>
              <a:ext uri="{FF2B5EF4-FFF2-40B4-BE49-F238E27FC236}">
                <a16:creationId xmlns:a16="http://schemas.microsoft.com/office/drawing/2014/main" id="{AA93C362-57C1-4728-8C77-7B7FD0C72E27}"/>
              </a:ext>
            </a:extLst>
          </p:cNvPr>
          <p:cNvSpPr>
            <a:spLocks noGrp="1"/>
          </p:cNvSpPr>
          <p:nvPr/>
        </p:nvSpPr>
        <p:spPr>
          <a:xfrm>
            <a:off x="1724025" y="4524375"/>
            <a:ext cx="8753475" cy="95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line-74">
            <a:extLst>
              <a:ext uri="{FF2B5EF4-FFF2-40B4-BE49-F238E27FC236}">
                <a16:creationId xmlns:a16="http://schemas.microsoft.com/office/drawing/2014/main" id="{AEF67682-0736-48EB-AFD4-B505F4A28CE7}"/>
              </a:ext>
            </a:extLst>
          </p:cNvPr>
          <p:cNvSpPr>
            <a:spLocks noGrp="1"/>
          </p:cNvSpPr>
          <p:nvPr/>
        </p:nvSpPr>
        <p:spPr>
          <a:xfrm>
            <a:off x="1724025" y="4086225"/>
            <a:ext cx="95" cy="438150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arrow-75">
            <a:extLst>
              <a:ext uri="{FF2B5EF4-FFF2-40B4-BE49-F238E27FC236}">
                <a16:creationId xmlns:a16="http://schemas.microsoft.com/office/drawing/2014/main" id="{0F3EC797-D146-4FE6-98D5-998132134416}"/>
              </a:ext>
            </a:extLst>
          </p:cNvPr>
          <p:cNvSpPr>
            <a:spLocks noGrp="1"/>
          </p:cNvSpPr>
          <p:nvPr/>
        </p:nvSpPr>
        <p:spPr>
          <a:xfrm>
            <a:off x="1676400" y="4038600"/>
            <a:ext cx="95250" cy="95250"/>
          </a:xfrm>
          <a:prstGeom prst="triangle">
            <a:avLst/>
          </a:prstGeom>
          <a:solidFill>
            <a:srgbClr val="B8732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panel-76">
            <a:extLst>
              <a:ext uri="{FF2B5EF4-FFF2-40B4-BE49-F238E27FC236}">
                <a16:creationId xmlns:a16="http://schemas.microsoft.com/office/drawing/2014/main" id="{EF239539-F49C-4BF6-A0B3-2F96DD857CF4}"/>
              </a:ext>
            </a:extLst>
          </p:cNvPr>
          <p:cNvSpPr>
            <a:spLocks noGrp="1"/>
          </p:cNvSpPr>
          <p:nvPr/>
        </p:nvSpPr>
        <p:spPr>
          <a:xfrm>
            <a:off x="3533775" y="5038725"/>
            <a:ext cx="8048625" cy="590550"/>
          </a:xfrm>
          <a:prstGeom prst="roundRect">
            <a:avLst>
              <a:gd name="adj" fmla="val 12903"/>
            </a:avLst>
          </a:prstGeom>
          <a:solidFill>
            <a:srgbClr val="EAF7F3"/>
          </a:solidFill>
          <a:ln w="14288">
            <a:solidFill>
              <a:srgbClr val="167F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-77">
            <a:extLst>
              <a:ext uri="{FF2B5EF4-FFF2-40B4-BE49-F238E27FC236}">
                <a16:creationId xmlns:a16="http://schemas.microsoft.com/office/drawing/2014/main" id="{991C3201-786E-4BEB-8F41-27B42D2B2FC6}"/>
              </a:ext>
            </a:extLst>
          </p:cNvPr>
          <p:cNvSpPr>
            <a:spLocks noGrp="1"/>
          </p:cNvSpPr>
          <p:nvPr/>
        </p:nvSpPr>
        <p:spPr>
          <a:xfrm>
            <a:off x="3705225" y="5133975"/>
            <a:ext cx="77057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records：实际输入、原始输出、标准结果、动作回执与版本</a:t>
            </a:r>
          </a:p>
        </p:txBody>
      </p:sp>
      <p:sp>
        <p:nvSpPr>
          <p:cNvPr id="35" name="line-78">
            <a:extLst>
              <a:ext uri="{FF2B5EF4-FFF2-40B4-BE49-F238E27FC236}">
                <a16:creationId xmlns:a16="http://schemas.microsoft.com/office/drawing/2014/main" id="{442139A2-1F3D-4494-87E3-B6BE18F4F932}"/>
              </a:ext>
            </a:extLst>
          </p:cNvPr>
          <p:cNvSpPr>
            <a:spLocks noGrp="1"/>
          </p:cNvSpPr>
          <p:nvPr/>
        </p:nvSpPr>
        <p:spPr>
          <a:xfrm>
            <a:off x="7543800" y="4067175"/>
            <a:ext cx="95" cy="742950"/>
          </a:xfrm>
          <a:prstGeom prst="line">
            <a:avLst/>
          </a:prstGeom>
          <a:noFill/>
          <a:ln w="19050">
            <a:solidFill>
              <a:srgbClr val="167F7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line-79">
            <a:extLst>
              <a:ext uri="{FF2B5EF4-FFF2-40B4-BE49-F238E27FC236}">
                <a16:creationId xmlns:a16="http://schemas.microsoft.com/office/drawing/2014/main" id="{B4807FCE-2CF0-413C-A649-C187C8F9CBAF}"/>
              </a:ext>
            </a:extLst>
          </p:cNvPr>
          <p:cNvSpPr>
            <a:spLocks noGrp="1"/>
          </p:cNvSpPr>
          <p:nvPr/>
        </p:nvSpPr>
        <p:spPr>
          <a:xfrm>
            <a:off x="7543800" y="4810125"/>
            <a:ext cx="95" cy="228600"/>
          </a:xfrm>
          <a:prstGeom prst="line">
            <a:avLst/>
          </a:prstGeom>
          <a:noFill/>
          <a:ln w="19050">
            <a:solidFill>
              <a:srgbClr val="167F7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arrow-80">
            <a:extLst>
              <a:ext uri="{FF2B5EF4-FFF2-40B4-BE49-F238E27FC236}">
                <a16:creationId xmlns:a16="http://schemas.microsoft.com/office/drawing/2014/main" id="{D295BC00-A76F-4857-8DAE-9EC68C96E076}"/>
              </a:ext>
            </a:extLst>
          </p:cNvPr>
          <p:cNvSpPr>
            <a:spLocks noGrp="1"/>
          </p:cNvSpPr>
          <p:nvPr/>
        </p:nvSpPr>
        <p:spPr>
          <a:xfrm rot="10800000">
            <a:off x="7496175" y="499110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line-81">
            <a:extLst>
              <a:ext uri="{FF2B5EF4-FFF2-40B4-BE49-F238E27FC236}">
                <a16:creationId xmlns:a16="http://schemas.microsoft.com/office/drawing/2014/main" id="{77E9175D-DD3D-4EA5-AA98-E7A51C19D29E}"/>
              </a:ext>
            </a:extLst>
          </p:cNvPr>
          <p:cNvSpPr>
            <a:spLocks noGrp="1"/>
          </p:cNvSpPr>
          <p:nvPr/>
        </p:nvSpPr>
        <p:spPr>
          <a:xfrm>
            <a:off x="10477500" y="4524375"/>
            <a:ext cx="95" cy="514350"/>
          </a:xfrm>
          <a:prstGeom prst="line">
            <a:avLst/>
          </a:prstGeom>
          <a:noFill/>
          <a:ln w="19050">
            <a:solidFill>
              <a:srgbClr val="167F7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arrow-82">
            <a:extLst>
              <a:ext uri="{FF2B5EF4-FFF2-40B4-BE49-F238E27FC236}">
                <a16:creationId xmlns:a16="http://schemas.microsoft.com/office/drawing/2014/main" id="{5297CFF1-7EB8-4D70-AD21-222AB8050F00}"/>
              </a:ext>
            </a:extLst>
          </p:cNvPr>
          <p:cNvSpPr>
            <a:spLocks noGrp="1"/>
          </p:cNvSpPr>
          <p:nvPr/>
        </p:nvSpPr>
        <p:spPr>
          <a:xfrm rot="10800000">
            <a:off x="10429875" y="499110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panel-83">
            <a:extLst>
              <a:ext uri="{FF2B5EF4-FFF2-40B4-BE49-F238E27FC236}">
                <a16:creationId xmlns:a16="http://schemas.microsoft.com/office/drawing/2014/main" id="{518BBA65-7211-4434-B15D-1359D4B2A5FB}"/>
              </a:ext>
            </a:extLst>
          </p:cNvPr>
          <p:cNvSpPr>
            <a:spLocks noGrp="1"/>
          </p:cNvSpPr>
          <p:nvPr/>
        </p:nvSpPr>
        <p:spPr>
          <a:xfrm>
            <a:off x="2857500" y="4191000"/>
            <a:ext cx="7096125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-84">
            <a:extLst>
              <a:ext uri="{FF2B5EF4-FFF2-40B4-BE49-F238E27FC236}">
                <a16:creationId xmlns:a16="http://schemas.microsoft.com/office/drawing/2014/main" id="{4A9116F5-E649-47CB-A310-D4A1F4842DA8}"/>
              </a:ext>
            </a:extLst>
          </p:cNvPr>
          <p:cNvSpPr>
            <a:spLocks noGrp="1"/>
          </p:cNvSpPr>
          <p:nvPr/>
        </p:nvSpPr>
        <p:spPr>
          <a:xfrm>
            <a:off x="2857500" y="4191000"/>
            <a:ext cx="7096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按需查询 ObservationRequest / 执行操作 EnvironmentCommand</a:t>
            </a:r>
          </a:p>
        </p:txBody>
      </p:sp>
      <p:sp>
        <p:nvSpPr>
          <p:cNvPr id="42" name="panel-85">
            <a:extLst>
              <a:ext uri="{FF2B5EF4-FFF2-40B4-BE49-F238E27FC236}">
                <a16:creationId xmlns:a16="http://schemas.microsoft.com/office/drawing/2014/main" id="{083F3256-4ABD-40F1-A7A2-9D648C168B42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2200275" cy="590550"/>
          </a:xfrm>
          <a:prstGeom prst="roundRect">
            <a:avLst>
              <a:gd name="adj" fmla="val 12903"/>
            </a:avLst>
          </a:prstGeom>
          <a:solidFill>
            <a:srgbClr val="F3F6F8"/>
          </a:solidFill>
          <a:ln w="14288">
            <a:solidFill>
              <a:srgbClr val="CCD9E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-86">
            <a:extLst>
              <a:ext uri="{FF2B5EF4-FFF2-40B4-BE49-F238E27FC236}">
                <a16:creationId xmlns:a16="http://schemas.microsoft.com/office/drawing/2014/main" id="{34F2A8A5-1A92-4575-A171-758C9CEB2961}"/>
              </a:ext>
            </a:extLst>
          </p:cNvPr>
          <p:cNvSpPr>
            <a:spLocks noGrp="1"/>
          </p:cNvSpPr>
          <p:nvPr/>
        </p:nvSpPr>
        <p:spPr>
          <a:xfrm>
            <a:off x="762000" y="5153025"/>
            <a:ext cx="18954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实际环境后端</a:t>
            </a:r>
          </a:p>
        </p:txBody>
      </p:sp>
      <p:sp>
        <p:nvSpPr>
          <p:cNvPr id="44" name="line-87">
            <a:extLst>
              <a:ext uri="{FF2B5EF4-FFF2-40B4-BE49-F238E27FC236}">
                <a16:creationId xmlns:a16="http://schemas.microsoft.com/office/drawing/2014/main" id="{FB907F33-CC79-404C-AE54-56BF1ECD1AE9}"/>
              </a:ext>
            </a:extLst>
          </p:cNvPr>
          <p:cNvSpPr>
            <a:spLocks noGrp="1"/>
          </p:cNvSpPr>
          <p:nvPr/>
        </p:nvSpPr>
        <p:spPr>
          <a:xfrm>
            <a:off x="1000125" y="4086225"/>
            <a:ext cx="95" cy="952500"/>
          </a:xfrm>
          <a:prstGeom prst="line">
            <a:avLst/>
          </a:prstGeom>
          <a:noFill/>
          <a:ln w="19050">
            <a:solidFill>
              <a:srgbClr val="6178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arrow-88">
            <a:extLst>
              <a:ext uri="{FF2B5EF4-FFF2-40B4-BE49-F238E27FC236}">
                <a16:creationId xmlns:a16="http://schemas.microsoft.com/office/drawing/2014/main" id="{D97E0AD7-BBF4-4CF7-8E86-9534529DB490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95250" cy="95250"/>
          </a:xfrm>
          <a:prstGeom prst="triangle">
            <a:avLst/>
          </a:prstGeom>
          <a:solidFill>
            <a:srgbClr val="61788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-89">
            <a:extLst>
              <a:ext uri="{FF2B5EF4-FFF2-40B4-BE49-F238E27FC236}">
                <a16:creationId xmlns:a16="http://schemas.microsoft.com/office/drawing/2014/main" id="{1321E93E-D36E-4DF9-9BDE-C857CBBC9080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例：CPU 观测 → 最近 60 点窗口 → 当前时点异常分数 → 标准检测结果</a:t>
            </a:r>
          </a:p>
        </p:txBody>
      </p:sp>
    </p:spTree>
    <p:extLst>
      <p:ext uri="{BB962C8B-B14F-4D97-AF65-F5344CB8AC3E}">
        <p14:creationId xmlns:p14="http://schemas.microsoft.com/office/powerpoint/2010/main" val="1047370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1F9D96-1E62-46A7-A86A-935C66EE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11010900" cy="666750"/>
          </a:xfrm>
        </p:spPr>
        <p:txBody>
          <a:bodyPr wrap="none" lIns="0" tIns="0" rIns="0" bIns="0" anchor="ctr">
            <a:noAutofit/>
          </a:bodyPr>
          <a:lstStyle/>
          <a:p>
            <a:pPr algn="ctr">
              <a:def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 dirty="0" err="1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rPr>
              <a:t>环境接口统一，来源能力声明</a:t>
            </a:r>
            <a:endParaRPr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F5BAAA-AF49-91F9-59AC-5AE815D5FD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B3DF56-1CEB-909E-EBDA-22FAA694D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fld id="{EFD6AB9A-5F9E-5F59-51AB-3C8734130965}" type="slidenum"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/>
          </a:p>
        </p:txBody>
      </p:sp>
      <p:sp>
        <p:nvSpPr>
          <p:cNvPr id="6" name="text-90">
            <a:extLst>
              <a:ext uri="{FF2B5EF4-FFF2-40B4-BE49-F238E27FC236}">
                <a16:creationId xmlns:a16="http://schemas.microsoft.com/office/drawing/2014/main" id="{599E3851-2F42-4F2F-A8A6-78D57624FE0A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数据来自哪里，适配器怎样获取</a:t>
            </a:r>
          </a:p>
        </p:txBody>
      </p:sp>
      <p:sp>
        <p:nvSpPr>
          <p:cNvPr id="7" name="panel-91">
            <a:extLst>
              <a:ext uri="{FF2B5EF4-FFF2-40B4-BE49-F238E27FC236}">
                <a16:creationId xmlns:a16="http://schemas.microsoft.com/office/drawing/2014/main" id="{D24E9171-F64B-4404-9764-7F79EA915B42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4400550" cy="695325"/>
          </a:xfrm>
          <a:prstGeom prst="roundRect">
            <a:avLst>
              <a:gd name="adj" fmla="val 10959"/>
            </a:avLst>
          </a:prstGeom>
          <a:solidFill>
            <a:srgbClr val="EDF5F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-92">
            <a:extLst>
              <a:ext uri="{FF2B5EF4-FFF2-40B4-BE49-F238E27FC236}">
                <a16:creationId xmlns:a16="http://schemas.microsoft.com/office/drawing/2014/main" id="{7630D767-6AE9-4C91-A393-CE4555BC2369}"/>
              </a:ext>
            </a:extLst>
          </p:cNvPr>
          <p:cNvSpPr>
            <a:spLocks noGrp="1"/>
          </p:cNvSpPr>
          <p:nvPr/>
        </p:nvSpPr>
        <p:spPr>
          <a:xfrm>
            <a:off x="762000" y="2105025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历史文件 / 数据库</a:t>
            </a:r>
          </a:p>
        </p:txBody>
      </p:sp>
      <p:sp>
        <p:nvSpPr>
          <p:cNvPr id="9" name="text-93">
            <a:extLst>
              <a:ext uri="{FF2B5EF4-FFF2-40B4-BE49-F238E27FC236}">
                <a16:creationId xmlns:a16="http://schemas.microsoft.com/office/drawing/2014/main" id="{8BCD2526-7937-40D4-8C3F-EE41FACB1B76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4095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固定版本、实体与时间范围读取</a:t>
            </a:r>
          </a:p>
        </p:txBody>
      </p:sp>
      <p:sp>
        <p:nvSpPr>
          <p:cNvPr id="10" name="panel-94">
            <a:extLst>
              <a:ext uri="{FF2B5EF4-FFF2-40B4-BE49-F238E27FC236}">
                <a16:creationId xmlns:a16="http://schemas.microsoft.com/office/drawing/2014/main" id="{846E55F7-11FC-44B7-BD11-788750AB6645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4400550" cy="695325"/>
          </a:xfrm>
          <a:prstGeom prst="roundRect">
            <a:avLst>
              <a:gd name="adj" fmla="val 10959"/>
            </a:avLst>
          </a:prstGeom>
          <a:solidFill>
            <a:srgbClr val="F3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-95">
            <a:extLst>
              <a:ext uri="{FF2B5EF4-FFF2-40B4-BE49-F238E27FC236}">
                <a16:creationId xmlns:a16="http://schemas.microsoft.com/office/drawing/2014/main" id="{47B18605-873A-4718-9F51-605DEE702417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合成数据</a:t>
            </a:r>
          </a:p>
        </p:txBody>
      </p:sp>
      <p:sp>
        <p:nvSpPr>
          <p:cNvPr id="12" name="text-96">
            <a:extLst>
              <a:ext uri="{FF2B5EF4-FFF2-40B4-BE49-F238E27FC236}">
                <a16:creationId xmlns:a16="http://schemas.microsoft.com/office/drawing/2014/main" id="{C9B979BF-8964-4EAF-9DD1-5CF33A80206F}"/>
              </a:ext>
            </a:extLst>
          </p:cNvPr>
          <p:cNvSpPr>
            <a:spLocks noGrp="1"/>
          </p:cNvSpPr>
          <p:nvPr/>
        </p:nvSpPr>
        <p:spPr>
          <a:xfrm>
            <a:off x="762000" y="3228975"/>
            <a:ext cx="4095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读取快照；或调用生成器并固化结果</a:t>
            </a:r>
          </a:p>
        </p:txBody>
      </p:sp>
      <p:sp>
        <p:nvSpPr>
          <p:cNvPr id="13" name="panel-97">
            <a:extLst>
              <a:ext uri="{FF2B5EF4-FFF2-40B4-BE49-F238E27FC236}">
                <a16:creationId xmlns:a16="http://schemas.microsoft.com/office/drawing/2014/main" id="{3AC57BB8-AF67-44F8-A026-22031AFB2C1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400550" cy="695325"/>
          </a:xfrm>
          <a:prstGeom prst="roundRect">
            <a:avLst>
              <a:gd name="adj" fmla="val 10959"/>
            </a:avLst>
          </a:prstGeom>
          <a:solidFill>
            <a:srgbClr val="EDF5F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-98">
            <a:extLst>
              <a:ext uri="{FF2B5EF4-FFF2-40B4-BE49-F238E27FC236}">
                <a16:creationId xmlns:a16="http://schemas.microsoft.com/office/drawing/2014/main" id="{975B99EC-49A9-41A7-8CD7-B15A689CB49F}"/>
              </a:ext>
            </a:extLst>
          </p:cNvPr>
          <p:cNvSpPr>
            <a:spLocks noGrp="1"/>
          </p:cNvSpPr>
          <p:nvPr/>
        </p:nvSpPr>
        <p:spPr>
          <a:xfrm>
            <a:off x="762000" y="3724275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仿真器 / Gym 桥接</a:t>
            </a:r>
          </a:p>
        </p:txBody>
      </p:sp>
      <p:sp>
        <p:nvSpPr>
          <p:cNvPr id="15" name="text-99">
            <a:extLst>
              <a:ext uri="{FF2B5EF4-FFF2-40B4-BE49-F238E27FC236}">
                <a16:creationId xmlns:a16="http://schemas.microsoft.com/office/drawing/2014/main" id="{0F4214FF-6A00-4DFB-AFF9-9ABE43B76BFC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4095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初始化、控制、推进与采样</a:t>
            </a:r>
          </a:p>
        </p:txBody>
      </p:sp>
      <p:sp>
        <p:nvSpPr>
          <p:cNvPr id="16" name="panel-100">
            <a:extLst>
              <a:ext uri="{FF2B5EF4-FFF2-40B4-BE49-F238E27FC236}">
                <a16:creationId xmlns:a16="http://schemas.microsoft.com/office/drawing/2014/main" id="{569F0A9C-292F-4B06-8566-B0AC8BA23C5E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4400550" cy="695325"/>
          </a:xfrm>
          <a:prstGeom prst="roundRect">
            <a:avLst>
              <a:gd name="adj" fmla="val 10959"/>
            </a:avLst>
          </a:prstGeom>
          <a:solidFill>
            <a:srgbClr val="F3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-101">
            <a:extLst>
              <a:ext uri="{FF2B5EF4-FFF2-40B4-BE49-F238E27FC236}">
                <a16:creationId xmlns:a16="http://schemas.microsoft.com/office/drawing/2014/main" id="{8744C168-3C9E-4F17-A48C-B1A13A1CF472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真实试验台 / 系统</a:t>
            </a:r>
          </a:p>
        </p:txBody>
      </p:sp>
      <p:sp>
        <p:nvSpPr>
          <p:cNvPr id="18" name="text-102">
            <a:extLst>
              <a:ext uri="{FF2B5EF4-FFF2-40B4-BE49-F238E27FC236}">
                <a16:creationId xmlns:a16="http://schemas.microsoft.com/office/drawing/2014/main" id="{559CF979-592B-4508-8DEC-538CC9AB233A}"/>
              </a:ext>
            </a:extLst>
          </p:cNvPr>
          <p:cNvSpPr>
            <a:spLocks noGrp="1"/>
          </p:cNvSpPr>
          <p:nvPr/>
        </p:nvSpPr>
        <p:spPr>
          <a:xfrm>
            <a:off x="762000" y="4848225"/>
            <a:ext cx="4095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API / SDK 查询、轮询或订阅</a:t>
            </a:r>
          </a:p>
        </p:txBody>
      </p:sp>
      <p:sp>
        <p:nvSpPr>
          <p:cNvPr id="19" name="text-103">
            <a:extLst>
              <a:ext uri="{FF2B5EF4-FFF2-40B4-BE49-F238E27FC236}">
                <a16:creationId xmlns:a16="http://schemas.microsoft.com/office/drawing/2014/main" id="{98692E36-3CD3-4FEC-8528-83D6E9D1308A}"/>
              </a:ext>
            </a:extLst>
          </p:cNvPr>
          <p:cNvSpPr>
            <a:spLocks noGrp="1"/>
          </p:cNvSpPr>
          <p:nvPr/>
        </p:nvSpPr>
        <p:spPr>
          <a:xfrm>
            <a:off x="5353050" y="1495425"/>
            <a:ext cx="62103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Environment：一次环境会话</a:t>
            </a:r>
          </a:p>
        </p:txBody>
      </p:sp>
      <p:graphicFrame>
        <p:nvGraphicFramePr>
          <p:cNvPr id="40" name="表格 39"/>
          <p:cNvGraphicFramePr/>
          <p:nvPr/>
        </p:nvGraphicFramePr>
        <p:xfrm>
          <a:off x="5353050" y="2047875"/>
          <a:ext cx="6210300" cy="3124200"/>
        </p:xfrm>
        <a:graphic>
          <a:graphicData uri="http://schemas.openxmlformats.org/drawingml/2006/table">
            <a:tbl>
              <a:tblPr/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</a:t>
                      </a:r>
                    </a:p>
                  </a:txBody>
                  <a:tcPr anchor="ctr">
                    <a:solidFill>
                      <a:srgbClr val="2466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约定</a:t>
                      </a:r>
                    </a:p>
                  </a:txBody>
                  <a:tcPr anchor="ctr">
                    <a:solidFill>
                      <a:srgbClr val="2466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describe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声明变量、操作、时钟和能力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初始化或接入本次会话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observe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交付观测、反馈与结束信息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提交操作并返回回执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finish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35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释放实例或脱离系统并汇总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-104">
            <a:extLst>
              <a:ext uri="{FF2B5EF4-FFF2-40B4-BE49-F238E27FC236}">
                <a16:creationId xmlns:a16="http://schemas.microsoft.com/office/drawing/2014/main" id="{ED5D3703-66B0-4671-9F2C-3BFE133E20D8}"/>
              </a:ext>
            </a:extLst>
          </p:cNvPr>
          <p:cNvSpPr>
            <a:spLocks noGrp="1"/>
          </p:cNvSpPr>
          <p:nvPr/>
        </p:nvSpPr>
        <p:spPr>
          <a:xfrm>
            <a:off x="5353050" y="5295900"/>
            <a:ext cx="6210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统一输出 ObservationBatch</a:t>
            </a:r>
          </a:p>
        </p:txBody>
      </p:sp>
      <p:sp>
        <p:nvSpPr>
          <p:cNvPr id="22" name="text-105">
            <a:extLst>
              <a:ext uri="{FF2B5EF4-FFF2-40B4-BE49-F238E27FC236}">
                <a16:creationId xmlns:a16="http://schemas.microsoft.com/office/drawing/2014/main" id="{267031B7-97A0-4C41-A8EE-F117AF117066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能力声明决定可读范围、时间推进、操作与重置；只读现场不因接入而获得控制能力。</a:t>
            </a:r>
          </a:p>
        </p:txBody>
      </p:sp>
    </p:spTree>
    <p:extLst>
      <p:ext uri="{BB962C8B-B14F-4D97-AF65-F5344CB8AC3E}">
        <p14:creationId xmlns:p14="http://schemas.microsoft.com/office/powerpoint/2010/main" val="121695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1F9D96-1E62-46A7-A86A-935C66EE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11010900" cy="666750"/>
          </a:xfrm>
        </p:spPr>
        <p:txBody>
          <a:bodyPr wrap="none" lIns="0" tIns="0" rIns="0" bIns="0" anchor="ctr">
            <a:noAutofit/>
          </a:bodyPr>
          <a:lstStyle/>
          <a:p>
            <a:pPr algn="ctr">
              <a:def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rPr>
              <a:t>LibraryTS 资产如何参与一次运行</a:t>
            </a:r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F5BAAA-AF49-91F9-59AC-5AE815D5FD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B3DF56-1CEB-909E-EBDA-22FAA694D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fld id="{EE5B3003-2C54-13C6-9832-7637201064DE}" type="slidenum"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/>
          </a:p>
        </p:txBody>
      </p:sp>
      <p:sp>
        <p:nvSpPr>
          <p:cNvPr id="6" name="panel-106">
            <a:extLst>
              <a:ext uri="{FF2B5EF4-FFF2-40B4-BE49-F238E27FC236}">
                <a16:creationId xmlns:a16="http://schemas.microsoft.com/office/drawing/2014/main" id="{5A2A1766-6F49-4538-BBD7-0C7FBD535572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019425" cy="1885950"/>
          </a:xfrm>
          <a:prstGeom prst="roundRect">
            <a:avLst>
              <a:gd name="adj" fmla="val 4040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107">
            <a:extLst>
              <a:ext uri="{FF2B5EF4-FFF2-40B4-BE49-F238E27FC236}">
                <a16:creationId xmlns:a16="http://schemas.microsoft.com/office/drawing/2014/main" id="{E0B92DB7-E4A6-4F93-A0DF-98B2DC1E95F2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26765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LibraryTS</a:t>
            </a:r>
          </a:p>
        </p:txBody>
      </p:sp>
      <p:sp>
        <p:nvSpPr>
          <p:cNvPr id="8" name="text-108">
            <a:extLst>
              <a:ext uri="{FF2B5EF4-FFF2-40B4-BE49-F238E27FC236}">
                <a16:creationId xmlns:a16="http://schemas.microsoft.com/office/drawing/2014/main" id="{CC444935-B164-49CB-8C2D-2FA9597A488F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2676525" cy="1343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算法、模型与制品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流水线、可复用组件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固定实现来源与版本</a:t>
            </a:r>
          </a:p>
        </p:txBody>
      </p:sp>
      <p:sp>
        <p:nvSpPr>
          <p:cNvPr id="9" name="panel-109">
            <a:extLst>
              <a:ext uri="{FF2B5EF4-FFF2-40B4-BE49-F238E27FC236}">
                <a16:creationId xmlns:a16="http://schemas.microsoft.com/office/drawing/2014/main" id="{A3C6D37C-AAE8-4F0C-B23B-BA9FE81926EC}"/>
              </a:ext>
            </a:extLst>
          </p:cNvPr>
          <p:cNvSpPr>
            <a:spLocks noGrp="1"/>
          </p:cNvSpPr>
          <p:nvPr/>
        </p:nvSpPr>
        <p:spPr>
          <a:xfrm>
            <a:off x="4038600" y="1543050"/>
            <a:ext cx="7543800" cy="3800475"/>
          </a:xfrm>
          <a:prstGeom prst="roundRect">
            <a:avLst>
              <a:gd name="adj" fmla="val 3008"/>
            </a:avLst>
          </a:prstGeom>
          <a:solidFill>
            <a:srgbClr val="FAFCFE"/>
          </a:solidFill>
          <a:ln w="14288">
            <a:solidFill>
              <a:srgbClr val="CCD9E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-110">
            <a:extLst>
              <a:ext uri="{FF2B5EF4-FFF2-40B4-BE49-F238E27FC236}">
                <a16:creationId xmlns:a16="http://schemas.microsoft.com/office/drawing/2014/main" id="{DD134E86-63B0-40A0-B9F9-F761F10EFA6F}"/>
              </a:ext>
            </a:extLst>
          </p:cNvPr>
          <p:cNvSpPr>
            <a:spLocks noGrp="1"/>
          </p:cNvSpPr>
          <p:nvPr/>
        </p:nvSpPr>
        <p:spPr>
          <a:xfrm>
            <a:off x="4229100" y="1657350"/>
            <a:ext cx="6667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EnvironmentTS</a:t>
            </a:r>
          </a:p>
        </p:txBody>
      </p:sp>
      <p:sp>
        <p:nvSpPr>
          <p:cNvPr id="11" name="panel-111">
            <a:extLst>
              <a:ext uri="{FF2B5EF4-FFF2-40B4-BE49-F238E27FC236}">
                <a16:creationId xmlns:a16="http://schemas.microsoft.com/office/drawing/2014/main" id="{B0E7476C-86C2-42AF-B0A8-7179566069B7}"/>
              </a:ext>
            </a:extLst>
          </p:cNvPr>
          <p:cNvSpPr>
            <a:spLocks noGrp="1"/>
          </p:cNvSpPr>
          <p:nvPr/>
        </p:nvSpPr>
        <p:spPr>
          <a:xfrm>
            <a:off x="4229100" y="2247900"/>
            <a:ext cx="3114675" cy="1247775"/>
          </a:xfrm>
          <a:prstGeom prst="roundRect">
            <a:avLst>
              <a:gd name="adj" fmla="val 6107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-112">
            <a:extLst>
              <a:ext uri="{FF2B5EF4-FFF2-40B4-BE49-F238E27FC236}">
                <a16:creationId xmlns:a16="http://schemas.microsoft.com/office/drawing/2014/main" id="{F0952A8F-4837-425A-A522-F313CF4C8FA2}"/>
              </a:ext>
            </a:extLst>
          </p:cNvPr>
          <p:cNvSpPr>
            <a:spLocks noGrp="1"/>
          </p:cNvSpPr>
          <p:nvPr/>
        </p:nvSpPr>
        <p:spPr>
          <a:xfrm>
            <a:off x="4400550" y="2362200"/>
            <a:ext cx="27717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调用适配与注册</a:t>
            </a:r>
          </a:p>
        </p:txBody>
      </p:sp>
      <p:sp>
        <p:nvSpPr>
          <p:cNvPr id="13" name="text-113">
            <a:extLst>
              <a:ext uri="{FF2B5EF4-FFF2-40B4-BE49-F238E27FC236}">
                <a16:creationId xmlns:a16="http://schemas.microsoft.com/office/drawing/2014/main" id="{FCCAF5FB-8DA4-4FE1-BDA4-079D7427465B}"/>
              </a:ext>
            </a:extLst>
          </p:cNvPr>
          <p:cNvSpPr>
            <a:spLocks noGrp="1"/>
          </p:cNvSpPr>
          <p:nvPr/>
        </p:nvSpPr>
        <p:spPr>
          <a:xfrm>
            <a:off x="4400550" y="2771775"/>
            <a:ext cx="27717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声明支持任务与输入条件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转换原生调用 · 登记工厂</a:t>
            </a:r>
          </a:p>
        </p:txBody>
      </p:sp>
      <p:sp>
        <p:nvSpPr>
          <p:cNvPr id="14" name="panel-114">
            <a:extLst>
              <a:ext uri="{FF2B5EF4-FFF2-40B4-BE49-F238E27FC236}">
                <a16:creationId xmlns:a16="http://schemas.microsoft.com/office/drawing/2014/main" id="{A5A2E998-704B-4AB2-9E2E-016BCFCC8FF6}"/>
              </a:ext>
            </a:extLst>
          </p:cNvPr>
          <p:cNvSpPr>
            <a:spLocks noGrp="1"/>
          </p:cNvSpPr>
          <p:nvPr/>
        </p:nvSpPr>
        <p:spPr>
          <a:xfrm>
            <a:off x="8143875" y="2247900"/>
            <a:ext cx="3228975" cy="1247775"/>
          </a:xfrm>
          <a:prstGeom prst="roundRect">
            <a:avLst>
              <a:gd name="adj" fmla="val 6107"/>
            </a:avLst>
          </a:prstGeom>
          <a:solidFill>
            <a:srgbClr val="FFF5E8"/>
          </a:solidFill>
          <a:ln w="14288">
            <a:solidFill>
              <a:srgbClr val="B873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-115">
            <a:extLst>
              <a:ext uri="{FF2B5EF4-FFF2-40B4-BE49-F238E27FC236}">
                <a16:creationId xmlns:a16="http://schemas.microsoft.com/office/drawing/2014/main" id="{41DBB494-7185-4CAD-B3F7-6433FDF41A3B}"/>
              </a:ext>
            </a:extLst>
          </p:cNvPr>
          <p:cNvSpPr>
            <a:spLocks noGrp="1"/>
          </p:cNvSpPr>
          <p:nvPr/>
        </p:nvSpPr>
        <p:spPr>
          <a:xfrm>
            <a:off x="8315325" y="2362200"/>
            <a:ext cx="28860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本 Run 的 Candidate</a:t>
            </a:r>
          </a:p>
        </p:txBody>
      </p:sp>
      <p:sp>
        <p:nvSpPr>
          <p:cNvPr id="16" name="text-116">
            <a:extLst>
              <a:ext uri="{FF2B5EF4-FFF2-40B4-BE49-F238E27FC236}">
                <a16:creationId xmlns:a16="http://schemas.microsoft.com/office/drawing/2014/main" id="{F59E6AF6-6904-4BD8-BACF-D631B0F85A1C}"/>
              </a:ext>
            </a:extLst>
          </p:cNvPr>
          <p:cNvSpPr>
            <a:spLocks noGrp="1"/>
          </p:cNvSpPr>
          <p:nvPr/>
        </p:nvSpPr>
        <p:spPr>
          <a:xfrm>
            <a:off x="8315325" y="2771775"/>
            <a:ext cx="28860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prepare → infer → finish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允许学习时调用 update</a:t>
            </a:r>
          </a:p>
        </p:txBody>
      </p:sp>
      <p:sp>
        <p:nvSpPr>
          <p:cNvPr id="17" name="line-117">
            <a:extLst>
              <a:ext uri="{FF2B5EF4-FFF2-40B4-BE49-F238E27FC236}">
                <a16:creationId xmlns:a16="http://schemas.microsoft.com/office/drawing/2014/main" id="{6701B938-1E4C-45E7-8AFF-F63A373218B9}"/>
              </a:ext>
            </a:extLst>
          </p:cNvPr>
          <p:cNvSpPr>
            <a:spLocks noGrp="1"/>
          </p:cNvSpPr>
          <p:nvPr/>
        </p:nvSpPr>
        <p:spPr>
          <a:xfrm>
            <a:off x="3629025" y="2876550"/>
            <a:ext cx="600075" cy="95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rrow-118">
            <a:extLst>
              <a:ext uri="{FF2B5EF4-FFF2-40B4-BE49-F238E27FC236}">
                <a16:creationId xmlns:a16="http://schemas.microsoft.com/office/drawing/2014/main" id="{59B51E9B-7020-443C-AD4C-50A184B4AE46}"/>
              </a:ext>
            </a:extLst>
          </p:cNvPr>
          <p:cNvSpPr>
            <a:spLocks noGrp="1"/>
          </p:cNvSpPr>
          <p:nvPr/>
        </p:nvSpPr>
        <p:spPr>
          <a:xfrm rot="5400000">
            <a:off x="4181475" y="2828925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-119">
            <a:extLst>
              <a:ext uri="{FF2B5EF4-FFF2-40B4-BE49-F238E27FC236}">
                <a16:creationId xmlns:a16="http://schemas.microsoft.com/office/drawing/2014/main" id="{CB13574C-7141-400D-AFAF-63DC76D56CA4}"/>
              </a:ext>
            </a:extLst>
          </p:cNvPr>
          <p:cNvSpPr>
            <a:spLocks noGrp="1"/>
          </p:cNvSpPr>
          <p:nvPr/>
        </p:nvSpPr>
        <p:spPr>
          <a:xfrm>
            <a:off x="7343775" y="2876550"/>
            <a:ext cx="800100" cy="95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arrow-120">
            <a:extLst>
              <a:ext uri="{FF2B5EF4-FFF2-40B4-BE49-F238E27FC236}">
                <a16:creationId xmlns:a16="http://schemas.microsoft.com/office/drawing/2014/main" id="{7724A838-CF07-4DEA-B08A-D8EC04BB62F3}"/>
              </a:ext>
            </a:extLst>
          </p:cNvPr>
          <p:cNvSpPr>
            <a:spLocks noGrp="1"/>
          </p:cNvSpPr>
          <p:nvPr/>
        </p:nvSpPr>
        <p:spPr>
          <a:xfrm rot="5400000">
            <a:off x="8096250" y="2828925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-121">
            <a:extLst>
              <a:ext uri="{FF2B5EF4-FFF2-40B4-BE49-F238E27FC236}">
                <a16:creationId xmlns:a16="http://schemas.microsoft.com/office/drawing/2014/main" id="{9BBE1D06-E920-4138-A7A2-F56073885C84}"/>
              </a:ext>
            </a:extLst>
          </p:cNvPr>
          <p:cNvSpPr>
            <a:spLocks noGrp="1"/>
          </p:cNvSpPr>
          <p:nvPr/>
        </p:nvSpPr>
        <p:spPr>
          <a:xfrm>
            <a:off x="2724150" y="1647825"/>
            <a:ext cx="13049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实现与版本</a:t>
            </a:r>
          </a:p>
        </p:txBody>
      </p:sp>
      <p:sp>
        <p:nvSpPr>
          <p:cNvPr id="22" name="text-122">
            <a:extLst>
              <a:ext uri="{FF2B5EF4-FFF2-40B4-BE49-F238E27FC236}">
                <a16:creationId xmlns:a16="http://schemas.microsoft.com/office/drawing/2014/main" id="{620A7F89-596F-4F07-A97E-D068F11ED6B6}"/>
              </a:ext>
            </a:extLst>
          </p:cNvPr>
          <p:cNvSpPr>
            <a:spLocks noGrp="1"/>
          </p:cNvSpPr>
          <p:nvPr/>
        </p:nvSpPr>
        <p:spPr>
          <a:xfrm>
            <a:off x="7305675" y="1943100"/>
            <a:ext cx="1276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Runner 装配</a:t>
            </a:r>
          </a:p>
        </p:txBody>
      </p:sp>
      <p:sp>
        <p:nvSpPr>
          <p:cNvPr id="23" name="panel-123">
            <a:extLst>
              <a:ext uri="{FF2B5EF4-FFF2-40B4-BE49-F238E27FC236}">
                <a16:creationId xmlns:a16="http://schemas.microsoft.com/office/drawing/2014/main" id="{A27F158B-A1DA-4F86-B606-4B60C5411159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3019425" cy="323850"/>
          </a:xfrm>
          <a:prstGeom prst="roundRect">
            <a:avLst>
              <a:gd name="adj" fmla="val 11765"/>
            </a:avLst>
          </a:prstGeom>
          <a:solidFill>
            <a:srgbClr val="F4EF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-124">
            <a:extLst>
              <a:ext uri="{FF2B5EF4-FFF2-40B4-BE49-F238E27FC236}">
                <a16:creationId xmlns:a16="http://schemas.microsoft.com/office/drawing/2014/main" id="{391AABA7-9D8F-4E44-9E77-5C04A150EE7A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28670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CandidateSpec</a:t>
            </a:r>
          </a:p>
        </p:txBody>
      </p:sp>
      <p:sp>
        <p:nvSpPr>
          <p:cNvPr id="25" name="text-125">
            <a:extLst>
              <a:ext uri="{FF2B5EF4-FFF2-40B4-BE49-F238E27FC236}">
                <a16:creationId xmlns:a16="http://schemas.microsoft.com/office/drawing/2014/main" id="{4D4E9B28-5F93-40A4-8971-73997483A3B2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3028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adapter/version + params</a:t>
            </a:r>
          </a:p>
          <a:p>
            <a:pPr algn="l">
              <a:def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可选 artifact：已有模型状态</a:t>
            </a:r>
          </a:p>
        </p:txBody>
      </p:sp>
      <p:sp>
        <p:nvSpPr>
          <p:cNvPr id="26" name="line-126">
            <a:extLst>
              <a:ext uri="{FF2B5EF4-FFF2-40B4-BE49-F238E27FC236}">
                <a16:creationId xmlns:a16="http://schemas.microsoft.com/office/drawing/2014/main" id="{60E6FC37-8B96-4B74-92FE-082B6DA85AFE}"/>
              </a:ext>
            </a:extLst>
          </p:cNvPr>
          <p:cNvSpPr>
            <a:spLocks noGrp="1"/>
          </p:cNvSpPr>
          <p:nvPr/>
        </p:nvSpPr>
        <p:spPr>
          <a:xfrm flipV="1">
            <a:off x="3629024" y="4480149"/>
            <a:ext cx="576119" cy="34702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ine-127">
            <a:extLst>
              <a:ext uri="{FF2B5EF4-FFF2-40B4-BE49-F238E27FC236}">
                <a16:creationId xmlns:a16="http://schemas.microsoft.com/office/drawing/2014/main" id="{8B1D11AC-C2B4-4386-A9AA-96B68A3780C2}"/>
              </a:ext>
            </a:extLst>
          </p:cNvPr>
          <p:cNvSpPr>
            <a:spLocks noGrp="1"/>
          </p:cNvSpPr>
          <p:nvPr/>
        </p:nvSpPr>
        <p:spPr>
          <a:xfrm>
            <a:off x="4195620" y="3686174"/>
            <a:ext cx="95" cy="809625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-128">
            <a:extLst>
              <a:ext uri="{FF2B5EF4-FFF2-40B4-BE49-F238E27FC236}">
                <a16:creationId xmlns:a16="http://schemas.microsoft.com/office/drawing/2014/main" id="{E1925B2E-2408-4A89-A65D-E8764FAF5162}"/>
              </a:ext>
            </a:extLst>
          </p:cNvPr>
          <p:cNvSpPr>
            <a:spLocks noGrp="1"/>
          </p:cNvSpPr>
          <p:nvPr/>
        </p:nvSpPr>
        <p:spPr>
          <a:xfrm>
            <a:off x="4181475" y="3676747"/>
            <a:ext cx="5562600" cy="28574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line-129">
            <a:extLst>
              <a:ext uri="{FF2B5EF4-FFF2-40B4-BE49-F238E27FC236}">
                <a16:creationId xmlns:a16="http://schemas.microsoft.com/office/drawing/2014/main" id="{13357255-0336-42EB-B2F3-5D292F649278}"/>
              </a:ext>
            </a:extLst>
          </p:cNvPr>
          <p:cNvSpPr>
            <a:spLocks noGrp="1"/>
          </p:cNvSpPr>
          <p:nvPr/>
        </p:nvSpPr>
        <p:spPr>
          <a:xfrm>
            <a:off x="9744075" y="3495675"/>
            <a:ext cx="95" cy="209550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arrow-130">
            <a:extLst>
              <a:ext uri="{FF2B5EF4-FFF2-40B4-BE49-F238E27FC236}">
                <a16:creationId xmlns:a16="http://schemas.microsoft.com/office/drawing/2014/main" id="{E2FC3D81-E410-41E2-8413-472A4CCC7F4B}"/>
              </a:ext>
            </a:extLst>
          </p:cNvPr>
          <p:cNvSpPr>
            <a:spLocks noGrp="1"/>
          </p:cNvSpPr>
          <p:nvPr/>
        </p:nvSpPr>
        <p:spPr>
          <a:xfrm>
            <a:off x="9696450" y="3448050"/>
            <a:ext cx="95250" cy="95250"/>
          </a:xfrm>
          <a:prstGeom prst="triangle">
            <a:avLst/>
          </a:prstGeom>
          <a:solidFill>
            <a:srgbClr val="7550A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-131">
            <a:extLst>
              <a:ext uri="{FF2B5EF4-FFF2-40B4-BE49-F238E27FC236}">
                <a16:creationId xmlns:a16="http://schemas.microsoft.com/office/drawing/2014/main" id="{F0E348EB-D29C-4282-8E26-AF5247B9DFC5}"/>
              </a:ext>
            </a:extLst>
          </p:cNvPr>
          <p:cNvSpPr>
            <a:spLocks noGrp="1"/>
          </p:cNvSpPr>
          <p:nvPr/>
        </p:nvSpPr>
        <p:spPr>
          <a:xfrm>
            <a:off x="4874395" y="4017275"/>
            <a:ext cx="2667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dirty="0" err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本轮</a:t>
            </a:r>
            <a:r>
              <a:rPr sz="1950" b="1" dirty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1" dirty="0" err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TaskInput</a:t>
            </a:r>
            <a:endParaRPr sz="1950" b="1" dirty="0">
              <a:solidFill>
                <a:srgbClr val="21354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line-132">
            <a:extLst>
              <a:ext uri="{FF2B5EF4-FFF2-40B4-BE49-F238E27FC236}">
                <a16:creationId xmlns:a16="http://schemas.microsoft.com/office/drawing/2014/main" id="{3E7FD10E-7BB0-4D25-970B-96C9C9A6642D}"/>
              </a:ext>
            </a:extLst>
          </p:cNvPr>
          <p:cNvSpPr>
            <a:spLocks noGrp="1"/>
          </p:cNvSpPr>
          <p:nvPr/>
        </p:nvSpPr>
        <p:spPr>
          <a:xfrm>
            <a:off x="7058025" y="4191000"/>
            <a:ext cx="1085850" cy="95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arrow-133">
            <a:extLst>
              <a:ext uri="{FF2B5EF4-FFF2-40B4-BE49-F238E27FC236}">
                <a16:creationId xmlns:a16="http://schemas.microsoft.com/office/drawing/2014/main" id="{E7697588-A941-4488-8C6F-E8C3B717D067}"/>
              </a:ext>
            </a:extLst>
          </p:cNvPr>
          <p:cNvSpPr>
            <a:spLocks noGrp="1"/>
          </p:cNvSpPr>
          <p:nvPr/>
        </p:nvSpPr>
        <p:spPr>
          <a:xfrm rot="5400000">
            <a:off x="8096250" y="4143375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-134">
            <a:extLst>
              <a:ext uri="{FF2B5EF4-FFF2-40B4-BE49-F238E27FC236}">
                <a16:creationId xmlns:a16="http://schemas.microsoft.com/office/drawing/2014/main" id="{97077A2B-44D6-414A-B2EC-3E2E4EA581A3}"/>
              </a:ext>
            </a:extLst>
          </p:cNvPr>
          <p:cNvSpPr>
            <a:spLocks noGrp="1"/>
          </p:cNvSpPr>
          <p:nvPr/>
        </p:nvSpPr>
        <p:spPr>
          <a:xfrm>
            <a:off x="8220075" y="4019550"/>
            <a:ext cx="3028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Candidate.infer</a:t>
            </a:r>
          </a:p>
        </p:txBody>
      </p:sp>
      <p:sp>
        <p:nvSpPr>
          <p:cNvPr id="35" name="text-135">
            <a:extLst>
              <a:ext uri="{FF2B5EF4-FFF2-40B4-BE49-F238E27FC236}">
                <a16:creationId xmlns:a16="http://schemas.microsoft.com/office/drawing/2014/main" id="{2AD13E9D-3098-467A-B3F8-319E75D6F1FD}"/>
              </a:ext>
            </a:extLst>
          </p:cNvPr>
          <p:cNvSpPr>
            <a:spLocks noGrp="1"/>
          </p:cNvSpPr>
          <p:nvPr/>
        </p:nvSpPr>
        <p:spPr>
          <a:xfrm>
            <a:off x="8229600" y="4762500"/>
            <a:ext cx="2990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CandidateOutput</a:t>
            </a:r>
          </a:p>
        </p:txBody>
      </p:sp>
      <p:sp>
        <p:nvSpPr>
          <p:cNvPr id="36" name="line-136">
            <a:extLst>
              <a:ext uri="{FF2B5EF4-FFF2-40B4-BE49-F238E27FC236}">
                <a16:creationId xmlns:a16="http://schemas.microsoft.com/office/drawing/2014/main" id="{18CD5AC2-451A-4391-918D-C1C575DF6A7D}"/>
              </a:ext>
            </a:extLst>
          </p:cNvPr>
          <p:cNvSpPr>
            <a:spLocks noGrp="1"/>
          </p:cNvSpPr>
          <p:nvPr/>
        </p:nvSpPr>
        <p:spPr>
          <a:xfrm>
            <a:off x="9744075" y="4333875"/>
            <a:ext cx="95" cy="323850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arrow-137">
            <a:extLst>
              <a:ext uri="{FF2B5EF4-FFF2-40B4-BE49-F238E27FC236}">
                <a16:creationId xmlns:a16="http://schemas.microsoft.com/office/drawing/2014/main" id="{F74376B9-5E29-45C4-9221-D8AFD07EB4B9}"/>
              </a:ext>
            </a:extLst>
          </p:cNvPr>
          <p:cNvSpPr>
            <a:spLocks noGrp="1"/>
          </p:cNvSpPr>
          <p:nvPr/>
        </p:nvSpPr>
        <p:spPr>
          <a:xfrm rot="10800000">
            <a:off x="9696450" y="4610100"/>
            <a:ext cx="95250" cy="95250"/>
          </a:xfrm>
          <a:prstGeom prst="triangle">
            <a:avLst/>
          </a:prstGeom>
          <a:solidFill>
            <a:srgbClr val="B8732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-138">
            <a:extLst>
              <a:ext uri="{FF2B5EF4-FFF2-40B4-BE49-F238E27FC236}">
                <a16:creationId xmlns:a16="http://schemas.microsoft.com/office/drawing/2014/main" id="{1850FE1B-C0F7-4942-B56E-886566F4D75B}"/>
              </a:ext>
            </a:extLst>
          </p:cNvPr>
          <p:cNvSpPr>
            <a:spLocks noGrp="1"/>
          </p:cNvSpPr>
          <p:nvPr/>
        </p:nvSpPr>
        <p:spPr>
          <a:xfrm>
            <a:off x="4817245" y="4733925"/>
            <a:ext cx="2724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返回结果或交互请求</a:t>
            </a:r>
            <a:endParaRPr sz="1800" b="0" dirty="0">
              <a:solidFill>
                <a:srgbClr val="6178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line-139">
            <a:extLst>
              <a:ext uri="{FF2B5EF4-FFF2-40B4-BE49-F238E27FC236}">
                <a16:creationId xmlns:a16="http://schemas.microsoft.com/office/drawing/2014/main" id="{1C42644B-4ADE-4D80-A4FC-0EA707B44687}"/>
              </a:ext>
            </a:extLst>
          </p:cNvPr>
          <p:cNvSpPr>
            <a:spLocks noGrp="1"/>
          </p:cNvSpPr>
          <p:nvPr/>
        </p:nvSpPr>
        <p:spPr>
          <a:xfrm>
            <a:off x="7153275" y="4905375"/>
            <a:ext cx="990600" cy="95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arrow-140">
            <a:extLst>
              <a:ext uri="{FF2B5EF4-FFF2-40B4-BE49-F238E27FC236}">
                <a16:creationId xmlns:a16="http://schemas.microsoft.com/office/drawing/2014/main" id="{AAC74F4A-17C8-4BFB-BAE1-02BC08E445F1}"/>
              </a:ext>
            </a:extLst>
          </p:cNvPr>
          <p:cNvSpPr>
            <a:spLocks noGrp="1"/>
          </p:cNvSpPr>
          <p:nvPr/>
        </p:nvSpPr>
        <p:spPr>
          <a:xfrm rot="16200000">
            <a:off x="7105650" y="4857750"/>
            <a:ext cx="95250" cy="95250"/>
          </a:xfrm>
          <a:prstGeom prst="triangle">
            <a:avLst/>
          </a:prstGeom>
          <a:solidFill>
            <a:srgbClr val="B8732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-141">
            <a:extLst>
              <a:ext uri="{FF2B5EF4-FFF2-40B4-BE49-F238E27FC236}">
                <a16:creationId xmlns:a16="http://schemas.microsoft.com/office/drawing/2014/main" id="{588E8F4F-35B8-4826-AA0A-9C30806E0773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其他用法：组件</a:t>
            </a:r>
            <a:r>
              <a:rPr sz="1725" b="0" dirty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25" b="0" dirty="0" err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组成流水线</a:t>
            </a:r>
            <a:r>
              <a:rPr sz="1725" b="0" dirty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725" b="0" dirty="0" err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生成器</a:t>
            </a:r>
            <a:r>
              <a:rPr sz="1725" b="0" dirty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25" b="0" dirty="0" err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环境</a:t>
            </a:r>
            <a:r>
              <a:rPr sz="1725" b="0" dirty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725" b="0" dirty="0" err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评分函数</a:t>
            </a:r>
            <a:r>
              <a:rPr sz="1725" b="0" dirty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25" b="0" dirty="0" err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BenchTS</a:t>
            </a:r>
            <a:endParaRPr sz="1725" b="0" dirty="0">
              <a:solidFill>
                <a:srgbClr val="61788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54760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1F9D96-1E62-46A7-A86A-935C66EE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11010900" cy="666750"/>
          </a:xfrm>
        </p:spPr>
        <p:txBody>
          <a:bodyPr wrap="none" lIns="0" tIns="0" rIns="0" bIns="0" anchor="ctr">
            <a:noAutofit/>
          </a:bodyPr>
          <a:lstStyle/>
          <a:p>
            <a:pPr algn="ctr">
              <a:def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rPr>
              <a:t>运行记录保留结果产生时的依据</a:t>
            </a:r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F5BAAA-AF49-91F9-59AC-5AE815D5FD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B3DF56-1CEB-909E-EBDA-22FAA694D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fld id="{8C630A04-5A25-9E0C-9436-126091DB86B3}" type="slidenum"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/>
          </a:p>
        </p:txBody>
      </p:sp>
      <p:sp>
        <p:nvSpPr>
          <p:cNvPr id="6" name="text-142">
            <a:extLst>
              <a:ext uri="{FF2B5EF4-FFF2-40B4-BE49-F238E27FC236}">
                <a16:creationId xmlns:a16="http://schemas.microsoft.com/office/drawing/2014/main" id="{E0C6997B-CA7A-4D68-BEBA-78E1B3CA0CDF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6667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一次运行中的证据链</a:t>
            </a:r>
            <a:endParaRPr lang="zh-CN" altLang="en-US" sz="2100" b="1" dirty="0">
              <a:solidFill>
                <a:srgbClr val="16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nel-143">
            <a:extLst>
              <a:ext uri="{FF2B5EF4-FFF2-40B4-BE49-F238E27FC236}">
                <a16:creationId xmlns:a16="http://schemas.microsoft.com/office/drawing/2014/main" id="{826A1394-543D-4A3E-8DE1-9706BBFA75EB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486025" cy="1266825"/>
          </a:xfrm>
          <a:prstGeom prst="roundRect">
            <a:avLst>
              <a:gd name="adj" fmla="val 6015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-144">
            <a:extLst>
              <a:ext uri="{FF2B5EF4-FFF2-40B4-BE49-F238E27FC236}">
                <a16:creationId xmlns:a16="http://schemas.microsoft.com/office/drawing/2014/main" id="{3AA2CA9F-A89E-4E4B-96C9-6CD2F9052D9E}"/>
              </a:ext>
            </a:extLst>
          </p:cNvPr>
          <p:cNvSpPr>
            <a:spLocks noGrp="1"/>
          </p:cNvSpPr>
          <p:nvPr/>
        </p:nvSpPr>
        <p:spPr>
          <a:xfrm>
            <a:off x="781050" y="2162175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计划与版本</a:t>
            </a:r>
          </a:p>
        </p:txBody>
      </p:sp>
      <p:sp>
        <p:nvSpPr>
          <p:cNvPr id="9" name="text-145">
            <a:extLst>
              <a:ext uri="{FF2B5EF4-FFF2-40B4-BE49-F238E27FC236}">
                <a16:creationId xmlns:a16="http://schemas.microsoft.com/office/drawing/2014/main" id="{959F6D95-6B0D-4846-BE5C-A22054DF9215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143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任务、环境、方法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数据版本与参数</a:t>
            </a:r>
          </a:p>
        </p:txBody>
      </p:sp>
      <p:sp>
        <p:nvSpPr>
          <p:cNvPr id="10" name="line-146">
            <a:extLst>
              <a:ext uri="{FF2B5EF4-FFF2-40B4-BE49-F238E27FC236}">
                <a16:creationId xmlns:a16="http://schemas.microsoft.com/office/drawing/2014/main" id="{27A23FBB-70DC-4DAC-9409-DC2DC684FBC4}"/>
              </a:ext>
            </a:extLst>
          </p:cNvPr>
          <p:cNvSpPr>
            <a:spLocks noGrp="1"/>
          </p:cNvSpPr>
          <p:nvPr/>
        </p:nvSpPr>
        <p:spPr>
          <a:xfrm>
            <a:off x="3095625" y="2676525"/>
            <a:ext cx="342900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rrow-147">
            <a:extLst>
              <a:ext uri="{FF2B5EF4-FFF2-40B4-BE49-F238E27FC236}">
                <a16:creationId xmlns:a16="http://schemas.microsoft.com/office/drawing/2014/main" id="{A18719D0-01CF-4F62-8907-CED9251A6979}"/>
              </a:ext>
            </a:extLst>
          </p:cNvPr>
          <p:cNvSpPr>
            <a:spLocks noGrp="1"/>
          </p:cNvSpPr>
          <p:nvPr/>
        </p:nvSpPr>
        <p:spPr>
          <a:xfrm rot="5400000">
            <a:off x="3390900" y="262890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panel-148">
            <a:extLst>
              <a:ext uri="{FF2B5EF4-FFF2-40B4-BE49-F238E27FC236}">
                <a16:creationId xmlns:a16="http://schemas.microsoft.com/office/drawing/2014/main" id="{C7FA56BF-BF2D-4F6C-AAFC-7E6CD9212114}"/>
              </a:ext>
            </a:extLst>
          </p:cNvPr>
          <p:cNvSpPr>
            <a:spLocks noGrp="1"/>
          </p:cNvSpPr>
          <p:nvPr/>
        </p:nvSpPr>
        <p:spPr>
          <a:xfrm>
            <a:off x="3438525" y="2047875"/>
            <a:ext cx="2486025" cy="1266825"/>
          </a:xfrm>
          <a:prstGeom prst="roundRect">
            <a:avLst>
              <a:gd name="adj" fmla="val 6015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-149">
            <a:extLst>
              <a:ext uri="{FF2B5EF4-FFF2-40B4-BE49-F238E27FC236}">
                <a16:creationId xmlns:a16="http://schemas.microsoft.com/office/drawing/2014/main" id="{BF570F9A-7F11-420A-BB2C-A58555B69257}"/>
              </a:ext>
            </a:extLst>
          </p:cNvPr>
          <p:cNvSpPr>
            <a:spLocks noGrp="1"/>
          </p:cNvSpPr>
          <p:nvPr/>
        </p:nvSpPr>
        <p:spPr>
          <a:xfrm>
            <a:off x="3609975" y="2162175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实际输入</a:t>
            </a:r>
          </a:p>
        </p:txBody>
      </p:sp>
      <p:sp>
        <p:nvSpPr>
          <p:cNvPr id="14" name="text-150">
            <a:extLst>
              <a:ext uri="{FF2B5EF4-FFF2-40B4-BE49-F238E27FC236}">
                <a16:creationId xmlns:a16="http://schemas.microsoft.com/office/drawing/2014/main" id="{439F48BC-8AEB-4642-8C13-81010A11B492}"/>
              </a:ext>
            </a:extLst>
          </p:cNvPr>
          <p:cNvSpPr>
            <a:spLocks noGrp="1"/>
          </p:cNvSpPr>
          <p:nvPr/>
        </p:nvSpPr>
        <p:spPr>
          <a:xfrm>
            <a:off x="3609975" y="2571750"/>
            <a:ext cx="2143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当时观测 / TaskInput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允许使用的上下文</a:t>
            </a:r>
          </a:p>
        </p:txBody>
      </p:sp>
      <p:sp>
        <p:nvSpPr>
          <p:cNvPr id="15" name="line-151">
            <a:extLst>
              <a:ext uri="{FF2B5EF4-FFF2-40B4-BE49-F238E27FC236}">
                <a16:creationId xmlns:a16="http://schemas.microsoft.com/office/drawing/2014/main" id="{46FC55E6-E974-48A5-921B-47DE503F12DB}"/>
              </a:ext>
            </a:extLst>
          </p:cNvPr>
          <p:cNvSpPr>
            <a:spLocks noGrp="1"/>
          </p:cNvSpPr>
          <p:nvPr/>
        </p:nvSpPr>
        <p:spPr>
          <a:xfrm>
            <a:off x="5924550" y="2676525"/>
            <a:ext cx="342900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rrow-152">
            <a:extLst>
              <a:ext uri="{FF2B5EF4-FFF2-40B4-BE49-F238E27FC236}">
                <a16:creationId xmlns:a16="http://schemas.microsoft.com/office/drawing/2014/main" id="{42581F98-6BF5-4E20-B24E-A713688C9E1F}"/>
              </a:ext>
            </a:extLst>
          </p:cNvPr>
          <p:cNvSpPr>
            <a:spLocks noGrp="1"/>
          </p:cNvSpPr>
          <p:nvPr/>
        </p:nvSpPr>
        <p:spPr>
          <a:xfrm rot="5400000">
            <a:off x="6219825" y="262890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panel-153">
            <a:extLst>
              <a:ext uri="{FF2B5EF4-FFF2-40B4-BE49-F238E27FC236}">
                <a16:creationId xmlns:a16="http://schemas.microsoft.com/office/drawing/2014/main" id="{A1E95071-B534-4CE9-B8EC-B495510BA599}"/>
              </a:ext>
            </a:extLst>
          </p:cNvPr>
          <p:cNvSpPr>
            <a:spLocks noGrp="1"/>
          </p:cNvSpPr>
          <p:nvPr/>
        </p:nvSpPr>
        <p:spPr>
          <a:xfrm>
            <a:off x="6267450" y="2047875"/>
            <a:ext cx="2486025" cy="1266825"/>
          </a:xfrm>
          <a:prstGeom prst="roundRect">
            <a:avLst>
              <a:gd name="adj" fmla="val 6015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-154">
            <a:extLst>
              <a:ext uri="{FF2B5EF4-FFF2-40B4-BE49-F238E27FC236}">
                <a16:creationId xmlns:a16="http://schemas.microsoft.com/office/drawing/2014/main" id="{96B5BBFD-F79B-45F5-99B5-146591FC29A7}"/>
              </a:ext>
            </a:extLst>
          </p:cNvPr>
          <p:cNvSpPr>
            <a:spLocks noGrp="1"/>
          </p:cNvSpPr>
          <p:nvPr/>
        </p:nvSpPr>
        <p:spPr>
          <a:xfrm>
            <a:off x="6438900" y="2162175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原始输出</a:t>
            </a:r>
          </a:p>
        </p:txBody>
      </p:sp>
      <p:sp>
        <p:nvSpPr>
          <p:cNvPr id="19" name="text-155">
            <a:extLst>
              <a:ext uri="{FF2B5EF4-FFF2-40B4-BE49-F238E27FC236}">
                <a16:creationId xmlns:a16="http://schemas.microsoft.com/office/drawing/2014/main" id="{B5ACA8E3-CEB3-43DA-BF1A-1BD3FEF4EF17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2143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模型或 Agent 回答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保持原始表达</a:t>
            </a:r>
          </a:p>
        </p:txBody>
      </p:sp>
      <p:sp>
        <p:nvSpPr>
          <p:cNvPr id="20" name="line-156">
            <a:extLst>
              <a:ext uri="{FF2B5EF4-FFF2-40B4-BE49-F238E27FC236}">
                <a16:creationId xmlns:a16="http://schemas.microsoft.com/office/drawing/2014/main" id="{F5FFD281-C501-43FB-A857-E699144F998E}"/>
              </a:ext>
            </a:extLst>
          </p:cNvPr>
          <p:cNvSpPr>
            <a:spLocks noGrp="1"/>
          </p:cNvSpPr>
          <p:nvPr/>
        </p:nvSpPr>
        <p:spPr>
          <a:xfrm>
            <a:off x="8753475" y="2676525"/>
            <a:ext cx="342900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arrow-157">
            <a:extLst>
              <a:ext uri="{FF2B5EF4-FFF2-40B4-BE49-F238E27FC236}">
                <a16:creationId xmlns:a16="http://schemas.microsoft.com/office/drawing/2014/main" id="{2559DEFB-1DB0-4C83-B370-DEC8CD302954}"/>
              </a:ext>
            </a:extLst>
          </p:cNvPr>
          <p:cNvSpPr>
            <a:spLocks noGrp="1"/>
          </p:cNvSpPr>
          <p:nvPr/>
        </p:nvSpPr>
        <p:spPr>
          <a:xfrm rot="5400000">
            <a:off x="9048750" y="262890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panel-158">
            <a:extLst>
              <a:ext uri="{FF2B5EF4-FFF2-40B4-BE49-F238E27FC236}">
                <a16:creationId xmlns:a16="http://schemas.microsoft.com/office/drawing/2014/main" id="{05325EED-F500-4A13-9122-26F1462FAAE4}"/>
              </a:ext>
            </a:extLst>
          </p:cNvPr>
          <p:cNvSpPr>
            <a:spLocks noGrp="1"/>
          </p:cNvSpPr>
          <p:nvPr/>
        </p:nvSpPr>
        <p:spPr>
          <a:xfrm>
            <a:off x="9096375" y="2047875"/>
            <a:ext cx="2486025" cy="1266825"/>
          </a:xfrm>
          <a:prstGeom prst="roundRect">
            <a:avLst>
              <a:gd name="adj" fmla="val 6015"/>
            </a:avLst>
          </a:prstGeom>
          <a:solidFill>
            <a:srgbClr val="EAF7F3"/>
          </a:solidFill>
          <a:ln w="14288">
            <a:solidFill>
              <a:srgbClr val="167F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-159">
            <a:extLst>
              <a:ext uri="{FF2B5EF4-FFF2-40B4-BE49-F238E27FC236}">
                <a16:creationId xmlns:a16="http://schemas.microsoft.com/office/drawing/2014/main" id="{66D1B12E-505D-4178-A6F5-19A78920DF5D}"/>
              </a:ext>
            </a:extLst>
          </p:cNvPr>
          <p:cNvSpPr>
            <a:spLocks noGrp="1"/>
          </p:cNvSpPr>
          <p:nvPr/>
        </p:nvSpPr>
        <p:spPr>
          <a:xfrm>
            <a:off x="9267825" y="2162175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标准任务结果</a:t>
            </a:r>
          </a:p>
        </p:txBody>
      </p:sp>
      <p:sp>
        <p:nvSpPr>
          <p:cNvPr id="24" name="text-160">
            <a:extLst>
              <a:ext uri="{FF2B5EF4-FFF2-40B4-BE49-F238E27FC236}">
                <a16:creationId xmlns:a16="http://schemas.microsoft.com/office/drawing/2014/main" id="{F905FF97-4834-4000-8F02-4FD4453AF47C}"/>
              </a:ext>
            </a:extLst>
          </p:cNvPr>
          <p:cNvSpPr>
            <a:spLocks noGrp="1"/>
          </p:cNvSpPr>
          <p:nvPr/>
        </p:nvSpPr>
        <p:spPr>
          <a:xfrm>
            <a:off x="9267825" y="2571750"/>
            <a:ext cx="2143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目标、时间与结果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关联输入和原始输出</a:t>
            </a:r>
          </a:p>
        </p:txBody>
      </p:sp>
      <p:sp>
        <p:nvSpPr>
          <p:cNvPr id="25" name="panel-161">
            <a:extLst>
              <a:ext uri="{FF2B5EF4-FFF2-40B4-BE49-F238E27FC236}">
                <a16:creationId xmlns:a16="http://schemas.microsoft.com/office/drawing/2014/main" id="{63B8D948-0917-4FFA-9E0F-F6DECC657B19}"/>
              </a:ext>
            </a:extLst>
          </p:cNvPr>
          <p:cNvSpPr>
            <a:spLocks noGrp="1"/>
          </p:cNvSpPr>
          <p:nvPr/>
        </p:nvSpPr>
        <p:spPr>
          <a:xfrm>
            <a:off x="3438525" y="3629025"/>
            <a:ext cx="8143875" cy="590550"/>
          </a:xfrm>
          <a:prstGeom prst="roundRect">
            <a:avLst>
              <a:gd name="adj" fmla="val 12903"/>
            </a:avLst>
          </a:prstGeom>
          <a:solidFill>
            <a:srgbClr val="FFF5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-162">
            <a:extLst>
              <a:ext uri="{FF2B5EF4-FFF2-40B4-BE49-F238E27FC236}">
                <a16:creationId xmlns:a16="http://schemas.microsoft.com/office/drawing/2014/main" id="{0818996A-6667-4505-8A73-E0244BF6291D}"/>
              </a:ext>
            </a:extLst>
          </p:cNvPr>
          <p:cNvSpPr>
            <a:spLocks noGrp="1"/>
          </p:cNvSpPr>
          <p:nvPr/>
        </p:nvSpPr>
        <p:spPr>
          <a:xfrm>
            <a:off x="3619500" y="3724275"/>
            <a:ext cx="77819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有交互时：输出 → 操作 → 回执 → 后继观测 / 奖励</a:t>
            </a:r>
          </a:p>
        </p:txBody>
      </p:sp>
      <p:sp>
        <p:nvSpPr>
          <p:cNvPr id="27" name="text-163">
            <a:extLst>
              <a:ext uri="{FF2B5EF4-FFF2-40B4-BE49-F238E27FC236}">
                <a16:creationId xmlns:a16="http://schemas.microsoft.com/office/drawing/2014/main" id="{6449D3CA-EB32-4587-8166-383846E1CB24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后续实际结果到达</a:t>
            </a:r>
          </a:p>
        </p:txBody>
      </p:sp>
      <p:sp>
        <p:nvSpPr>
          <p:cNvPr id="28" name="line-164">
            <a:extLst>
              <a:ext uri="{FF2B5EF4-FFF2-40B4-BE49-F238E27FC236}">
                <a16:creationId xmlns:a16="http://schemas.microsoft.com/office/drawing/2014/main" id="{D66ADAD7-8765-4F61-9922-70CA501B12C6}"/>
              </a:ext>
            </a:extLst>
          </p:cNvPr>
          <p:cNvSpPr>
            <a:spLocks noGrp="1"/>
          </p:cNvSpPr>
          <p:nvPr/>
        </p:nvSpPr>
        <p:spPr>
          <a:xfrm>
            <a:off x="3619500" y="5105400"/>
            <a:ext cx="7867650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arrow-165">
            <a:extLst>
              <a:ext uri="{FF2B5EF4-FFF2-40B4-BE49-F238E27FC236}">
                <a16:creationId xmlns:a16="http://schemas.microsoft.com/office/drawing/2014/main" id="{93701B9A-D04E-4034-BEB7-4BCC1CCC2CE6}"/>
              </a:ext>
            </a:extLst>
          </p:cNvPr>
          <p:cNvSpPr>
            <a:spLocks noGrp="1"/>
          </p:cNvSpPr>
          <p:nvPr/>
        </p:nvSpPr>
        <p:spPr>
          <a:xfrm rot="5400000">
            <a:off x="11439525" y="5057775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panel-166">
            <a:extLst>
              <a:ext uri="{FF2B5EF4-FFF2-40B4-BE49-F238E27FC236}">
                <a16:creationId xmlns:a16="http://schemas.microsoft.com/office/drawing/2014/main" id="{4119C4E3-DAF1-49AE-839D-E9174C7DA82A}"/>
              </a:ext>
            </a:extLst>
          </p:cNvPr>
          <p:cNvSpPr>
            <a:spLocks noGrp="1"/>
          </p:cNvSpPr>
          <p:nvPr/>
        </p:nvSpPr>
        <p:spPr>
          <a:xfrm>
            <a:off x="3981450" y="5057775"/>
            <a:ext cx="95250" cy="95250"/>
          </a:xfrm>
          <a:prstGeom prst="rect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-167">
            <a:extLst>
              <a:ext uri="{FF2B5EF4-FFF2-40B4-BE49-F238E27FC236}">
                <a16:creationId xmlns:a16="http://schemas.microsoft.com/office/drawing/2014/main" id="{2DA5C022-2962-4AC7-B161-0FCEE3EFBD54}"/>
              </a:ext>
            </a:extLst>
          </p:cNvPr>
          <p:cNvSpPr>
            <a:spLocks noGrp="1"/>
          </p:cNvSpPr>
          <p:nvPr/>
        </p:nvSpPr>
        <p:spPr>
          <a:xfrm>
            <a:off x="2886075" y="456247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t₀  预测形成</a:t>
            </a:r>
          </a:p>
        </p:txBody>
      </p:sp>
      <p:sp>
        <p:nvSpPr>
          <p:cNvPr id="32" name="text-168">
            <a:extLst>
              <a:ext uri="{FF2B5EF4-FFF2-40B4-BE49-F238E27FC236}">
                <a16:creationId xmlns:a16="http://schemas.microsoft.com/office/drawing/2014/main" id="{8928603B-91E5-40E5-955A-67B7E9B8D3E9}"/>
              </a:ext>
            </a:extLst>
          </p:cNvPr>
          <p:cNvSpPr>
            <a:spLocks noGrp="1"/>
          </p:cNvSpPr>
          <p:nvPr/>
        </p:nvSpPr>
        <p:spPr>
          <a:xfrm>
            <a:off x="2743200" y="5276850"/>
            <a:ext cx="2571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保存原始结果</a:t>
            </a:r>
            <a:endParaRPr sz="1800" b="0" dirty="0">
              <a:solidFill>
                <a:srgbClr val="21354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panel-169">
            <a:extLst>
              <a:ext uri="{FF2B5EF4-FFF2-40B4-BE49-F238E27FC236}">
                <a16:creationId xmlns:a16="http://schemas.microsoft.com/office/drawing/2014/main" id="{A1B5E457-10FF-4867-ABD1-6BBE704FF255}"/>
              </a:ext>
            </a:extLst>
          </p:cNvPr>
          <p:cNvSpPr>
            <a:spLocks noGrp="1"/>
          </p:cNvSpPr>
          <p:nvPr/>
        </p:nvSpPr>
        <p:spPr>
          <a:xfrm>
            <a:off x="7048500" y="5057775"/>
            <a:ext cx="95250" cy="95250"/>
          </a:xfrm>
          <a:prstGeom prst="rect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-170">
            <a:extLst>
              <a:ext uri="{FF2B5EF4-FFF2-40B4-BE49-F238E27FC236}">
                <a16:creationId xmlns:a16="http://schemas.microsoft.com/office/drawing/2014/main" id="{510F2485-6CFC-4A65-A591-C8E06BE23136}"/>
              </a:ext>
            </a:extLst>
          </p:cNvPr>
          <p:cNvSpPr>
            <a:spLocks noGrp="1"/>
          </p:cNvSpPr>
          <p:nvPr/>
        </p:nvSpPr>
        <p:spPr>
          <a:xfrm>
            <a:off x="5953125" y="456247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t₁  实际值到达</a:t>
            </a:r>
          </a:p>
        </p:txBody>
      </p:sp>
      <p:sp>
        <p:nvSpPr>
          <p:cNvPr id="35" name="text-171">
            <a:extLst>
              <a:ext uri="{FF2B5EF4-FFF2-40B4-BE49-F238E27FC236}">
                <a16:creationId xmlns:a16="http://schemas.microsoft.com/office/drawing/2014/main" id="{1AE84C55-FEE2-49A5-8278-0A868D2A4EB9}"/>
              </a:ext>
            </a:extLst>
          </p:cNvPr>
          <p:cNvSpPr>
            <a:spLocks noGrp="1"/>
          </p:cNvSpPr>
          <p:nvPr/>
        </p:nvSpPr>
        <p:spPr>
          <a:xfrm>
            <a:off x="5810250" y="5276850"/>
            <a:ext cx="2571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追加</a:t>
            </a:r>
            <a:r>
              <a:rPr sz="1800" b="0" dirty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 Outcome </a:t>
            </a:r>
            <a:r>
              <a:rPr sz="1800" b="0" dirty="0" err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关联</a:t>
            </a:r>
            <a:endParaRPr sz="1800" b="0" dirty="0">
              <a:solidFill>
                <a:srgbClr val="21354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panel-172">
            <a:extLst>
              <a:ext uri="{FF2B5EF4-FFF2-40B4-BE49-F238E27FC236}">
                <a16:creationId xmlns:a16="http://schemas.microsoft.com/office/drawing/2014/main" id="{3FE146D3-1845-46BD-9F9C-D3A1ED653C52}"/>
              </a:ext>
            </a:extLst>
          </p:cNvPr>
          <p:cNvSpPr>
            <a:spLocks noGrp="1"/>
          </p:cNvSpPr>
          <p:nvPr/>
        </p:nvSpPr>
        <p:spPr>
          <a:xfrm>
            <a:off x="10096500" y="5057775"/>
            <a:ext cx="95250" cy="95250"/>
          </a:xfrm>
          <a:prstGeom prst="rect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-173">
            <a:extLst>
              <a:ext uri="{FF2B5EF4-FFF2-40B4-BE49-F238E27FC236}">
                <a16:creationId xmlns:a16="http://schemas.microsoft.com/office/drawing/2014/main" id="{82DCA707-5D00-4FB9-97A8-ADF001F622BC}"/>
              </a:ext>
            </a:extLst>
          </p:cNvPr>
          <p:cNvSpPr>
            <a:spLocks noGrp="1"/>
          </p:cNvSpPr>
          <p:nvPr/>
        </p:nvSpPr>
        <p:spPr>
          <a:xfrm>
            <a:off x="9001125" y="456247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t₂  重新评分</a:t>
            </a:r>
          </a:p>
        </p:txBody>
      </p:sp>
      <p:sp>
        <p:nvSpPr>
          <p:cNvPr id="38" name="text-174">
            <a:extLst>
              <a:ext uri="{FF2B5EF4-FFF2-40B4-BE49-F238E27FC236}">
                <a16:creationId xmlns:a16="http://schemas.microsoft.com/office/drawing/2014/main" id="{5E76C984-3D3D-4C91-B738-75C7B88A9E80}"/>
              </a:ext>
            </a:extLst>
          </p:cNvPr>
          <p:cNvSpPr>
            <a:spLocks noGrp="1"/>
          </p:cNvSpPr>
          <p:nvPr/>
        </p:nvSpPr>
        <p:spPr>
          <a:xfrm>
            <a:off x="8858250" y="5276850"/>
            <a:ext cx="2571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生成新的评价报告</a:t>
            </a:r>
          </a:p>
        </p:txBody>
      </p:sp>
      <p:sp>
        <p:nvSpPr>
          <p:cNvPr id="39" name="text-175">
            <a:extLst>
              <a:ext uri="{FF2B5EF4-FFF2-40B4-BE49-F238E27FC236}">
                <a16:creationId xmlns:a16="http://schemas.microsoft.com/office/drawing/2014/main" id="{53D431B5-0095-4648-9683-28649EDAAC66}"/>
              </a:ext>
            </a:extLst>
          </p:cNvPr>
          <p:cNvSpPr>
            <a:spLocks noGrp="1"/>
          </p:cNvSpPr>
          <p:nvPr/>
        </p:nvSpPr>
        <p:spPr>
          <a:xfrm>
            <a:off x="609600" y="5076825"/>
            <a:ext cx="2781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RunRecord</a:t>
            </a:r>
          </a:p>
          <a:p>
            <a:pPr algn="l">
              <a:defRPr sz="1950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保存固定引用与关联</a:t>
            </a:r>
          </a:p>
        </p:txBody>
      </p:sp>
      <p:sp>
        <p:nvSpPr>
          <p:cNvPr id="40" name="text-176">
            <a:extLst>
              <a:ext uri="{FF2B5EF4-FFF2-40B4-BE49-F238E27FC236}">
                <a16:creationId xmlns:a16="http://schemas.microsoft.com/office/drawing/2014/main" id="{DF309353-0B13-4E0A-AF07-90EC860E2878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新结果与原预测关联，原预测保留；支持复核、问题定位和后续改进</a:t>
            </a:r>
            <a:r>
              <a:rPr sz="1725" b="0" dirty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4084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1F9D96-1E62-46A7-A86A-935C66EE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11010900" cy="666750"/>
          </a:xfrm>
        </p:spPr>
        <p:txBody>
          <a:bodyPr wrap="none" lIns="0" tIns="0" rIns="0" bIns="0" anchor="ctr">
            <a:noAutofit/>
          </a:bodyPr>
          <a:lstStyle/>
          <a:p>
            <a:pPr algn="ctr">
              <a:def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rPr>
              <a:t>BenchTS 以固定方案比较与检验</a:t>
            </a:r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F5BAAA-AF49-91F9-59AC-5AE815D5FD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B3DF56-1CEB-909E-EBDA-22FAA694D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fld id="{D3D7D1C8-AE23-AA48-DF65-C742588DBE47}" type="slidenum"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/>
          </a:p>
        </p:txBody>
      </p:sp>
      <p:sp>
        <p:nvSpPr>
          <p:cNvPr id="6" name="panel-177">
            <a:extLst>
              <a:ext uri="{FF2B5EF4-FFF2-40B4-BE49-F238E27FC236}">
                <a16:creationId xmlns:a16="http://schemas.microsoft.com/office/drawing/2014/main" id="{0F58052F-6E80-4063-B1D4-B647012337D4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2781300" cy="1219200"/>
          </a:xfrm>
          <a:prstGeom prst="roundRect">
            <a:avLst>
              <a:gd name="adj" fmla="val 6250"/>
            </a:avLst>
          </a:prstGeom>
          <a:solidFill>
            <a:srgbClr val="F4EFFA"/>
          </a:solidFill>
          <a:ln w="14288">
            <a:solidFill>
              <a:srgbClr val="7550A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178">
            <a:extLst>
              <a:ext uri="{FF2B5EF4-FFF2-40B4-BE49-F238E27FC236}">
                <a16:creationId xmlns:a16="http://schemas.microsoft.com/office/drawing/2014/main" id="{EBF9ACF8-C876-4110-BAB9-8B5655B2F9DD}"/>
              </a:ext>
            </a:extLst>
          </p:cNvPr>
          <p:cNvSpPr>
            <a:spLocks noGrp="1"/>
          </p:cNvSpPr>
          <p:nvPr/>
        </p:nvSpPr>
        <p:spPr>
          <a:xfrm>
            <a:off x="781050" y="1895475"/>
            <a:ext cx="2438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固定测试方案</a:t>
            </a:r>
          </a:p>
        </p:txBody>
      </p:sp>
      <p:sp>
        <p:nvSpPr>
          <p:cNvPr id="8" name="text-179">
            <a:extLst>
              <a:ext uri="{FF2B5EF4-FFF2-40B4-BE49-F238E27FC236}">
                <a16:creationId xmlns:a16="http://schemas.microsoft.com/office/drawing/2014/main" id="{4F989178-6190-40E3-A429-D7EFA68B9A9C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24384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案例、基线、版本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评分规则、门槛与范围</a:t>
            </a:r>
          </a:p>
        </p:txBody>
      </p:sp>
      <p:sp>
        <p:nvSpPr>
          <p:cNvPr id="9" name="panel-180">
            <a:extLst>
              <a:ext uri="{FF2B5EF4-FFF2-40B4-BE49-F238E27FC236}">
                <a16:creationId xmlns:a16="http://schemas.microsoft.com/office/drawing/2014/main" id="{931EA14F-F95D-47CF-9B15-07F9C2194C5C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2781300" cy="1104900"/>
          </a:xfrm>
          <a:prstGeom prst="roundRect">
            <a:avLst>
              <a:gd name="adj" fmla="val 6897"/>
            </a:avLst>
          </a:prstGeom>
          <a:solidFill>
            <a:srgbClr val="EAF7F3"/>
          </a:solidFill>
          <a:ln w="14288">
            <a:solidFill>
              <a:srgbClr val="167F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-181">
            <a:extLst>
              <a:ext uri="{FF2B5EF4-FFF2-40B4-BE49-F238E27FC236}">
                <a16:creationId xmlns:a16="http://schemas.microsoft.com/office/drawing/2014/main" id="{245FF7D6-110E-467D-8942-EA207F31043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2438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ResultView</a:t>
            </a:r>
          </a:p>
        </p:txBody>
      </p:sp>
      <p:sp>
        <p:nvSpPr>
          <p:cNvPr id="11" name="text-182">
            <a:extLst>
              <a:ext uri="{FF2B5EF4-FFF2-40B4-BE49-F238E27FC236}">
                <a16:creationId xmlns:a16="http://schemas.microsoft.com/office/drawing/2014/main" id="{E3EDD86D-1FF3-47FA-9AAB-4B9BA693223D}"/>
              </a:ext>
            </a:extLst>
          </p:cNvPr>
          <p:cNvSpPr>
            <a:spLocks noGrp="1"/>
          </p:cNvSpPr>
          <p:nvPr/>
        </p:nvSpPr>
        <p:spPr>
          <a:xfrm>
            <a:off x="781050" y="3914775"/>
            <a:ext cx="24384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运行结果与过程证据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来自 EnvironmentTS</a:t>
            </a:r>
          </a:p>
        </p:txBody>
      </p:sp>
      <p:sp>
        <p:nvSpPr>
          <p:cNvPr id="12" name="panel-183">
            <a:extLst>
              <a:ext uri="{FF2B5EF4-FFF2-40B4-BE49-F238E27FC236}">
                <a16:creationId xmlns:a16="http://schemas.microsoft.com/office/drawing/2014/main" id="{81682C1B-26DE-4AB8-BB8D-BEC4BACA315D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2781300" cy="1104900"/>
          </a:xfrm>
          <a:prstGeom prst="roundRect">
            <a:avLst>
              <a:gd name="adj" fmla="val 6897"/>
            </a:avLst>
          </a:prstGeom>
          <a:solidFill>
            <a:srgbClr val="FFF5E8"/>
          </a:solidFill>
          <a:ln w="14288">
            <a:solidFill>
              <a:srgbClr val="B873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-184">
            <a:extLst>
              <a:ext uri="{FF2B5EF4-FFF2-40B4-BE49-F238E27FC236}">
                <a16:creationId xmlns:a16="http://schemas.microsoft.com/office/drawing/2014/main" id="{65B88759-58E5-498B-9F51-68FE0D1628EA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2438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OutcomeView</a:t>
            </a:r>
          </a:p>
        </p:txBody>
      </p:sp>
      <p:sp>
        <p:nvSpPr>
          <p:cNvPr id="14" name="text-185">
            <a:extLst>
              <a:ext uri="{FF2B5EF4-FFF2-40B4-BE49-F238E27FC236}">
                <a16:creationId xmlns:a16="http://schemas.microsoft.com/office/drawing/2014/main" id="{E8953E34-AB7D-4DEA-865A-8DC311A82C4F}"/>
              </a:ext>
            </a:extLst>
          </p:cNvPr>
          <p:cNvSpPr>
            <a:spLocks noGrp="1"/>
          </p:cNvSpPr>
          <p:nvPr/>
        </p:nvSpPr>
        <p:spPr>
          <a:xfrm>
            <a:off x="781050" y="5362575"/>
            <a:ext cx="24384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标签、未来实际值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或其他评价依据</a:t>
            </a:r>
          </a:p>
        </p:txBody>
      </p:sp>
      <p:sp>
        <p:nvSpPr>
          <p:cNvPr id="15" name="panel-186">
            <a:extLst>
              <a:ext uri="{FF2B5EF4-FFF2-40B4-BE49-F238E27FC236}">
                <a16:creationId xmlns:a16="http://schemas.microsoft.com/office/drawing/2014/main" id="{58789296-DC29-42DF-B8FA-1C8F65F338DF}"/>
              </a:ext>
            </a:extLst>
          </p:cNvPr>
          <p:cNvSpPr>
            <a:spLocks noGrp="1"/>
          </p:cNvSpPr>
          <p:nvPr/>
        </p:nvSpPr>
        <p:spPr>
          <a:xfrm>
            <a:off x="4143375" y="1552575"/>
            <a:ext cx="4362450" cy="4391025"/>
          </a:xfrm>
          <a:prstGeom prst="roundRect">
            <a:avLst>
              <a:gd name="adj" fmla="val 2620"/>
            </a:avLst>
          </a:prstGeom>
          <a:solidFill>
            <a:srgbClr val="FBF9FD"/>
          </a:solidFill>
          <a:ln w="14288">
            <a:solidFill>
              <a:srgbClr val="7550A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-187">
            <a:extLst>
              <a:ext uri="{FF2B5EF4-FFF2-40B4-BE49-F238E27FC236}">
                <a16:creationId xmlns:a16="http://schemas.microsoft.com/office/drawing/2014/main" id="{10C0B926-059B-4952-BF44-E7072C782CB4}"/>
              </a:ext>
            </a:extLst>
          </p:cNvPr>
          <p:cNvSpPr>
            <a:spLocks noGrp="1"/>
          </p:cNvSpPr>
          <p:nvPr/>
        </p:nvSpPr>
        <p:spPr>
          <a:xfrm>
            <a:off x="4343400" y="1685925"/>
            <a:ext cx="3857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BenchTS</a:t>
            </a:r>
          </a:p>
        </p:txBody>
      </p:sp>
      <p:sp>
        <p:nvSpPr>
          <p:cNvPr id="17" name="text-188">
            <a:extLst>
              <a:ext uri="{FF2B5EF4-FFF2-40B4-BE49-F238E27FC236}">
                <a16:creationId xmlns:a16="http://schemas.microsoft.com/office/drawing/2014/main" id="{CCF3CA85-7B37-4633-8906-6E42CBAE600E}"/>
              </a:ext>
            </a:extLst>
          </p:cNvPr>
          <p:cNvSpPr>
            <a:spLocks noGrp="1"/>
          </p:cNvSpPr>
          <p:nvPr/>
        </p:nvSpPr>
        <p:spPr>
          <a:xfrm>
            <a:off x="4343400" y="22479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evaluate：需要运行新实验</a:t>
            </a:r>
          </a:p>
        </p:txBody>
      </p:sp>
      <p:sp>
        <p:nvSpPr>
          <p:cNvPr id="18" name="text-189">
            <a:extLst>
              <a:ext uri="{FF2B5EF4-FFF2-40B4-BE49-F238E27FC236}">
                <a16:creationId xmlns:a16="http://schemas.microsoft.com/office/drawing/2014/main" id="{D54B229B-9C2C-426E-890E-8054B533A437}"/>
              </a:ext>
            </a:extLst>
          </p:cNvPr>
          <p:cNvSpPr>
            <a:spLocks noGrp="1"/>
          </p:cNvSpPr>
          <p:nvPr/>
        </p:nvSpPr>
        <p:spPr>
          <a:xfrm>
            <a:off x="4343400" y="2667000"/>
            <a:ext cx="3857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按案例调用 EnvironmentTS</a:t>
            </a:r>
          </a:p>
        </p:txBody>
      </p:sp>
      <p:sp>
        <p:nvSpPr>
          <p:cNvPr id="19" name="text-190">
            <a:extLst>
              <a:ext uri="{FF2B5EF4-FFF2-40B4-BE49-F238E27FC236}">
                <a16:creationId xmlns:a16="http://schemas.microsoft.com/office/drawing/2014/main" id="{ADF5260D-66D2-421E-8C1F-C896F63A9408}"/>
              </a:ext>
            </a:extLst>
          </p:cNvPr>
          <p:cNvSpPr>
            <a:spLocks noGrp="1"/>
          </p:cNvSpPr>
          <p:nvPr/>
        </p:nvSpPr>
        <p:spPr>
          <a:xfrm>
            <a:off x="4343400" y="3209925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score：已有结果重新评分</a:t>
            </a:r>
          </a:p>
        </p:txBody>
      </p:sp>
      <p:sp>
        <p:nvSpPr>
          <p:cNvPr id="20" name="text-191">
            <a:extLst>
              <a:ext uri="{FF2B5EF4-FFF2-40B4-BE49-F238E27FC236}">
                <a16:creationId xmlns:a16="http://schemas.microsoft.com/office/drawing/2014/main" id="{A583A519-ED8B-48B9-BB6A-A3CFC6621D20}"/>
              </a:ext>
            </a:extLst>
          </p:cNvPr>
          <p:cNvSpPr>
            <a:spLocks noGrp="1"/>
          </p:cNvSpPr>
          <p:nvPr/>
        </p:nvSpPr>
        <p:spPr>
          <a:xfrm>
            <a:off x="4343400" y="3629025"/>
            <a:ext cx="3857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选取原 Run 与本次评价依据</a:t>
            </a:r>
          </a:p>
        </p:txBody>
      </p:sp>
      <p:sp>
        <p:nvSpPr>
          <p:cNvPr id="21" name="panel-192">
            <a:extLst>
              <a:ext uri="{FF2B5EF4-FFF2-40B4-BE49-F238E27FC236}">
                <a16:creationId xmlns:a16="http://schemas.microsoft.com/office/drawing/2014/main" id="{CAF3D372-5A30-444E-880E-A30BE68C31B2}"/>
              </a:ext>
            </a:extLst>
          </p:cNvPr>
          <p:cNvSpPr>
            <a:spLocks noGrp="1"/>
          </p:cNvSpPr>
          <p:nvPr/>
        </p:nvSpPr>
        <p:spPr>
          <a:xfrm>
            <a:off x="4343400" y="4457700"/>
            <a:ext cx="3952875" cy="1209675"/>
          </a:xfrm>
          <a:prstGeom prst="roundRect">
            <a:avLst>
              <a:gd name="adj" fmla="val 6299"/>
            </a:avLst>
          </a:prstGeom>
          <a:solidFill>
            <a:srgbClr val="F4EF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-193">
            <a:extLst>
              <a:ext uri="{FF2B5EF4-FFF2-40B4-BE49-F238E27FC236}">
                <a16:creationId xmlns:a16="http://schemas.microsoft.com/office/drawing/2014/main" id="{97A5ABD4-2685-4BDC-A5E8-2D676D434F9F}"/>
              </a:ext>
            </a:extLst>
          </p:cNvPr>
          <p:cNvSpPr>
            <a:spLocks noGrp="1"/>
          </p:cNvSpPr>
          <p:nvPr/>
        </p:nvSpPr>
        <p:spPr>
          <a:xfrm>
            <a:off x="4514850" y="4581525"/>
            <a:ext cx="35909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Scorer → 比较与聚合</a:t>
            </a:r>
          </a:p>
        </p:txBody>
      </p:sp>
      <p:sp>
        <p:nvSpPr>
          <p:cNvPr id="23" name="text-194">
            <a:extLst>
              <a:ext uri="{FF2B5EF4-FFF2-40B4-BE49-F238E27FC236}">
                <a16:creationId xmlns:a16="http://schemas.microsoft.com/office/drawing/2014/main" id="{77AB86CC-FCD4-4C4C-B438-5AF07FACEB50}"/>
              </a:ext>
            </a:extLst>
          </p:cNvPr>
          <p:cNvSpPr>
            <a:spLocks noGrp="1"/>
          </p:cNvSpPr>
          <p:nvPr/>
        </p:nvSpPr>
        <p:spPr>
          <a:xfrm>
            <a:off x="4514850" y="5010150"/>
            <a:ext cx="35909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指标、基线差异、规定门槛</a:t>
            </a:r>
          </a:p>
          <a:p>
            <a:pPr algn="l">
              <a:def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计分范围与证据引用</a:t>
            </a:r>
          </a:p>
        </p:txBody>
      </p:sp>
      <p:sp>
        <p:nvSpPr>
          <p:cNvPr id="24" name="line-195">
            <a:extLst>
              <a:ext uri="{FF2B5EF4-FFF2-40B4-BE49-F238E27FC236}">
                <a16:creationId xmlns:a16="http://schemas.microsoft.com/office/drawing/2014/main" id="{96AB03FC-8AEF-4C50-BEF3-36F7D55587F5}"/>
              </a:ext>
            </a:extLst>
          </p:cNvPr>
          <p:cNvSpPr>
            <a:spLocks noGrp="1"/>
          </p:cNvSpPr>
          <p:nvPr/>
        </p:nvSpPr>
        <p:spPr>
          <a:xfrm>
            <a:off x="3390900" y="2390775"/>
            <a:ext cx="752475" cy="95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arrow-196">
            <a:extLst>
              <a:ext uri="{FF2B5EF4-FFF2-40B4-BE49-F238E27FC236}">
                <a16:creationId xmlns:a16="http://schemas.microsoft.com/office/drawing/2014/main" id="{645B0A9E-8035-40D5-B656-D70BF71E96FD}"/>
              </a:ext>
            </a:extLst>
          </p:cNvPr>
          <p:cNvSpPr>
            <a:spLocks noGrp="1"/>
          </p:cNvSpPr>
          <p:nvPr/>
        </p:nvSpPr>
        <p:spPr>
          <a:xfrm rot="5400000">
            <a:off x="4095750" y="2343150"/>
            <a:ext cx="95250" cy="95250"/>
          </a:xfrm>
          <a:prstGeom prst="triangle">
            <a:avLst/>
          </a:prstGeom>
          <a:solidFill>
            <a:srgbClr val="7550A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ine-197">
            <a:extLst>
              <a:ext uri="{FF2B5EF4-FFF2-40B4-BE49-F238E27FC236}">
                <a16:creationId xmlns:a16="http://schemas.microsoft.com/office/drawing/2014/main" id="{BCEDFCB5-9363-418B-A321-B044CE882EF8}"/>
              </a:ext>
            </a:extLst>
          </p:cNvPr>
          <p:cNvSpPr>
            <a:spLocks noGrp="1"/>
          </p:cNvSpPr>
          <p:nvPr/>
        </p:nvSpPr>
        <p:spPr>
          <a:xfrm>
            <a:off x="3390900" y="3943350"/>
            <a:ext cx="752475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arrow-198">
            <a:extLst>
              <a:ext uri="{FF2B5EF4-FFF2-40B4-BE49-F238E27FC236}">
                <a16:creationId xmlns:a16="http://schemas.microsoft.com/office/drawing/2014/main" id="{155EE399-4C98-46ED-AFFB-94DDEBAB64D9}"/>
              </a:ext>
            </a:extLst>
          </p:cNvPr>
          <p:cNvSpPr>
            <a:spLocks noGrp="1"/>
          </p:cNvSpPr>
          <p:nvPr/>
        </p:nvSpPr>
        <p:spPr>
          <a:xfrm rot="5400000">
            <a:off x="4095750" y="3895725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-199">
            <a:extLst>
              <a:ext uri="{FF2B5EF4-FFF2-40B4-BE49-F238E27FC236}">
                <a16:creationId xmlns:a16="http://schemas.microsoft.com/office/drawing/2014/main" id="{46A857E2-C81E-4336-A78F-4393BD82B715}"/>
              </a:ext>
            </a:extLst>
          </p:cNvPr>
          <p:cNvSpPr>
            <a:spLocks noGrp="1"/>
          </p:cNvSpPr>
          <p:nvPr/>
        </p:nvSpPr>
        <p:spPr>
          <a:xfrm>
            <a:off x="3390900" y="5381625"/>
            <a:ext cx="952500" cy="95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arrow-200">
            <a:extLst>
              <a:ext uri="{FF2B5EF4-FFF2-40B4-BE49-F238E27FC236}">
                <a16:creationId xmlns:a16="http://schemas.microsoft.com/office/drawing/2014/main" id="{7732C68D-0179-4A63-BDD4-BF9E14E8EB43}"/>
              </a:ext>
            </a:extLst>
          </p:cNvPr>
          <p:cNvSpPr>
            <a:spLocks noGrp="1"/>
          </p:cNvSpPr>
          <p:nvPr/>
        </p:nvSpPr>
        <p:spPr>
          <a:xfrm rot="5400000">
            <a:off x="4295775" y="5334000"/>
            <a:ext cx="95250" cy="95250"/>
          </a:xfrm>
          <a:prstGeom prst="triangle">
            <a:avLst/>
          </a:prstGeom>
          <a:solidFill>
            <a:srgbClr val="B8732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panel-201">
            <a:extLst>
              <a:ext uri="{FF2B5EF4-FFF2-40B4-BE49-F238E27FC236}">
                <a16:creationId xmlns:a16="http://schemas.microsoft.com/office/drawing/2014/main" id="{69F959BB-95A0-4A34-88B9-A6A0EB27EDB4}"/>
              </a:ext>
            </a:extLst>
          </p:cNvPr>
          <p:cNvSpPr>
            <a:spLocks noGrp="1"/>
          </p:cNvSpPr>
          <p:nvPr/>
        </p:nvSpPr>
        <p:spPr>
          <a:xfrm>
            <a:off x="9077325" y="3028950"/>
            <a:ext cx="2505075" cy="1952625"/>
          </a:xfrm>
          <a:prstGeom prst="roundRect">
            <a:avLst>
              <a:gd name="adj" fmla="val 3902"/>
            </a:avLst>
          </a:prstGeom>
          <a:solidFill>
            <a:srgbClr val="F4EFFA"/>
          </a:solidFill>
          <a:ln w="14288">
            <a:solidFill>
              <a:srgbClr val="7550A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-202">
            <a:extLst>
              <a:ext uri="{FF2B5EF4-FFF2-40B4-BE49-F238E27FC236}">
                <a16:creationId xmlns:a16="http://schemas.microsoft.com/office/drawing/2014/main" id="{93900088-C7CF-4BE3-A39A-2E4CF646C824}"/>
              </a:ext>
            </a:extLst>
          </p:cNvPr>
          <p:cNvSpPr>
            <a:spLocks noGrp="1"/>
          </p:cNvSpPr>
          <p:nvPr/>
        </p:nvSpPr>
        <p:spPr>
          <a:xfrm>
            <a:off x="9248775" y="3143250"/>
            <a:ext cx="2162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EvaluationReport</a:t>
            </a:r>
          </a:p>
        </p:txBody>
      </p:sp>
      <p:sp>
        <p:nvSpPr>
          <p:cNvPr id="32" name="text-203">
            <a:extLst>
              <a:ext uri="{FF2B5EF4-FFF2-40B4-BE49-F238E27FC236}">
                <a16:creationId xmlns:a16="http://schemas.microsoft.com/office/drawing/2014/main" id="{46E46C7B-653F-4056-9E19-271A73E99CA5}"/>
              </a:ext>
            </a:extLst>
          </p:cNvPr>
          <p:cNvSpPr>
            <a:spLocks noGrp="1"/>
          </p:cNvSpPr>
          <p:nvPr/>
        </p:nvSpPr>
        <p:spPr>
          <a:xfrm>
            <a:off x="9248775" y="3552825"/>
            <a:ext cx="2162175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基线比较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验收 / 回归 / 安全测试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支持上层研发判断</a:t>
            </a:r>
          </a:p>
        </p:txBody>
      </p:sp>
      <p:sp>
        <p:nvSpPr>
          <p:cNvPr id="33" name="line-204">
            <a:extLst>
              <a:ext uri="{FF2B5EF4-FFF2-40B4-BE49-F238E27FC236}">
                <a16:creationId xmlns:a16="http://schemas.microsoft.com/office/drawing/2014/main" id="{EED09E8E-7A73-4280-B535-86EA8B8EDDF9}"/>
              </a:ext>
            </a:extLst>
          </p:cNvPr>
          <p:cNvSpPr>
            <a:spLocks noGrp="1"/>
          </p:cNvSpPr>
          <p:nvPr/>
        </p:nvSpPr>
        <p:spPr>
          <a:xfrm>
            <a:off x="8505825" y="4019550"/>
            <a:ext cx="571500" cy="95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arrow-205">
            <a:extLst>
              <a:ext uri="{FF2B5EF4-FFF2-40B4-BE49-F238E27FC236}">
                <a16:creationId xmlns:a16="http://schemas.microsoft.com/office/drawing/2014/main" id="{87846E1A-E223-436D-A09C-9941661AFA46}"/>
              </a:ext>
            </a:extLst>
          </p:cNvPr>
          <p:cNvSpPr>
            <a:spLocks noGrp="1"/>
          </p:cNvSpPr>
          <p:nvPr/>
        </p:nvSpPr>
        <p:spPr>
          <a:xfrm rot="5400000">
            <a:off x="9029700" y="3971925"/>
            <a:ext cx="95250" cy="95250"/>
          </a:xfrm>
          <a:prstGeom prst="triangle">
            <a:avLst/>
          </a:prstGeom>
          <a:solidFill>
            <a:srgbClr val="7550A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-206">
            <a:extLst>
              <a:ext uri="{FF2B5EF4-FFF2-40B4-BE49-F238E27FC236}">
                <a16:creationId xmlns:a16="http://schemas.microsoft.com/office/drawing/2014/main" id="{505546EC-9D03-46A8-99BC-BCC8B9051DFE}"/>
              </a:ext>
            </a:extLst>
          </p:cNvPr>
          <p:cNvSpPr>
            <a:spLocks noGrp="1"/>
          </p:cNvSpPr>
          <p:nvPr/>
        </p:nvSpPr>
        <p:spPr>
          <a:xfrm>
            <a:off x="8953500" y="5353050"/>
            <a:ext cx="27813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7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测试通过 ≠ 发布获批</a:t>
            </a:r>
          </a:p>
        </p:txBody>
      </p:sp>
    </p:spTree>
    <p:extLst>
      <p:ext uri="{BB962C8B-B14F-4D97-AF65-F5344CB8AC3E}">
        <p14:creationId xmlns:p14="http://schemas.microsoft.com/office/powerpoint/2010/main" val="140874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1F9D96-1E62-46A7-A86A-935C66EE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11010900" cy="666750"/>
          </a:xfrm>
        </p:spPr>
        <p:txBody>
          <a:bodyPr wrap="none" lIns="0" tIns="0" rIns="0" bIns="0" anchor="ctr">
            <a:noAutofit/>
          </a:bodyPr>
          <a:lstStyle/>
          <a:p>
            <a:pPr algn="ctr">
              <a:def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rPr>
              <a:t>两个实践检验同一套接入设计</a:t>
            </a:r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F5BAAA-AF49-91F9-59AC-5AE815D5FD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B3DF56-1CEB-909E-EBDA-22FAA694D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fld id="{BA58DA2A-B818-18A9-29C1-B697728D5BCE}" type="slidenum"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/>
          </a:p>
        </p:txBody>
      </p:sp>
      <p:sp>
        <p:nvSpPr>
          <p:cNvPr id="6" name="text-207">
            <a:extLst>
              <a:ext uri="{FF2B5EF4-FFF2-40B4-BE49-F238E27FC236}">
                <a16:creationId xmlns:a16="http://schemas.microsoft.com/office/drawing/2014/main" id="{3E284B2D-80B2-4789-B672-658C1259028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ChatTS 合成数据快照</a:t>
            </a:r>
          </a:p>
        </p:txBody>
      </p:sp>
      <p:sp>
        <p:nvSpPr>
          <p:cNvPr id="7" name="text-208">
            <a:extLst>
              <a:ext uri="{FF2B5EF4-FFF2-40B4-BE49-F238E27FC236}">
                <a16:creationId xmlns:a16="http://schemas.microsoft.com/office/drawing/2014/main" id="{12910EB3-367F-4EA2-9270-763B5EF6B55C}"/>
              </a:ext>
            </a:extLst>
          </p:cNvPr>
          <p:cNvSpPr>
            <a:spLocks noGrp="1"/>
          </p:cNvSpPr>
          <p:nvPr/>
        </p:nvSpPr>
        <p:spPr>
          <a:xfrm>
            <a:off x="6438900" y="1524000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阿里在线观测</a:t>
            </a:r>
          </a:p>
        </p:txBody>
      </p:sp>
      <p:sp>
        <p:nvSpPr>
          <p:cNvPr id="8" name="line-209">
            <a:extLst>
              <a:ext uri="{FF2B5EF4-FFF2-40B4-BE49-F238E27FC236}">
                <a16:creationId xmlns:a16="http://schemas.microsoft.com/office/drawing/2014/main" id="{BED405E3-9211-48E8-BDA2-9622759D1312}"/>
              </a:ext>
            </a:extLst>
          </p:cNvPr>
          <p:cNvSpPr>
            <a:spLocks noGrp="1"/>
          </p:cNvSpPr>
          <p:nvPr/>
        </p:nvSpPr>
        <p:spPr>
          <a:xfrm>
            <a:off x="6086475" y="1609725"/>
            <a:ext cx="95" cy="3905250"/>
          </a:xfrm>
          <a:prstGeom prst="line">
            <a:avLst/>
          </a:prstGeom>
          <a:noFill/>
          <a:ln w="19050">
            <a:solidFill>
              <a:srgbClr val="CCD9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panel-210">
            <a:extLst>
              <a:ext uri="{FF2B5EF4-FFF2-40B4-BE49-F238E27FC236}">
                <a16:creationId xmlns:a16="http://schemas.microsoft.com/office/drawing/2014/main" id="{3C3B43DC-4068-4F98-8114-7B39EDAC01BE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238750" cy="1152525"/>
          </a:xfrm>
          <a:prstGeom prst="roundRect">
            <a:avLst>
              <a:gd name="adj" fmla="val 6612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-211">
            <a:extLst>
              <a:ext uri="{FF2B5EF4-FFF2-40B4-BE49-F238E27FC236}">
                <a16:creationId xmlns:a16="http://schemas.microsoft.com/office/drawing/2014/main" id="{CB8781F5-10F4-4A11-8A4F-38DE1A206382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4895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11" name="text-212">
            <a:extLst>
              <a:ext uri="{FF2B5EF4-FFF2-40B4-BE49-F238E27FC236}">
                <a16:creationId xmlns:a16="http://schemas.microsoft.com/office/drawing/2014/main" id="{099D7293-2FA1-46D9-A68B-A20B2D5E8D72}"/>
              </a:ext>
            </a:extLst>
          </p:cNvPr>
          <p:cNvSpPr>
            <a:spLocks noGrp="1"/>
          </p:cNvSpPr>
          <p:nvPr/>
        </p:nvSpPr>
        <p:spPr>
          <a:xfrm>
            <a:off x="781050" y="2657475"/>
            <a:ext cx="48958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固定生成样本、生成配置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保留趋势 / 周期 / 局部形态等标注</a:t>
            </a:r>
          </a:p>
        </p:txBody>
      </p:sp>
      <p:sp>
        <p:nvSpPr>
          <p:cNvPr id="12" name="panel-213">
            <a:extLst>
              <a:ext uri="{FF2B5EF4-FFF2-40B4-BE49-F238E27FC236}">
                <a16:creationId xmlns:a16="http://schemas.microsoft.com/office/drawing/2014/main" id="{F07A06FB-C854-48DB-B473-41DE69D0857E}"/>
              </a:ext>
            </a:extLst>
          </p:cNvPr>
          <p:cNvSpPr>
            <a:spLocks noGrp="1"/>
          </p:cNvSpPr>
          <p:nvPr/>
        </p:nvSpPr>
        <p:spPr>
          <a:xfrm>
            <a:off x="6438900" y="2133600"/>
            <a:ext cx="5143500" cy="1152525"/>
          </a:xfrm>
          <a:prstGeom prst="roundRect">
            <a:avLst>
              <a:gd name="adj" fmla="val 6612"/>
            </a:avLst>
          </a:prstGeom>
          <a:solidFill>
            <a:srgbClr val="EAF7F3"/>
          </a:solidFill>
          <a:ln w="14288">
            <a:solidFill>
              <a:srgbClr val="167F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-214">
            <a:extLst>
              <a:ext uri="{FF2B5EF4-FFF2-40B4-BE49-F238E27FC236}">
                <a16:creationId xmlns:a16="http://schemas.microsoft.com/office/drawing/2014/main" id="{1DC5816F-DD7E-44EE-A399-01FD4BD71DAD}"/>
              </a:ext>
            </a:extLst>
          </p:cNvPr>
          <p:cNvSpPr>
            <a:spLocks noGrp="1"/>
          </p:cNvSpPr>
          <p:nvPr/>
        </p:nvSpPr>
        <p:spPr>
          <a:xfrm>
            <a:off x="6610350" y="2247900"/>
            <a:ext cx="4800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实际查询通道</a:t>
            </a:r>
          </a:p>
        </p:txBody>
      </p:sp>
      <p:sp>
        <p:nvSpPr>
          <p:cNvPr id="14" name="text-215">
            <a:extLst>
              <a:ext uri="{FF2B5EF4-FFF2-40B4-BE49-F238E27FC236}">
                <a16:creationId xmlns:a16="http://schemas.microsoft.com/office/drawing/2014/main" id="{66FE4BC0-211F-4A0B-B497-3A7806D3333C}"/>
              </a:ext>
            </a:extLst>
          </p:cNvPr>
          <p:cNvSpPr>
            <a:spLocks noGrp="1"/>
          </p:cNvSpPr>
          <p:nvPr/>
        </p:nvSpPr>
        <p:spPr>
          <a:xfrm>
            <a:off x="6610350" y="2657475"/>
            <a:ext cx="4800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通过获授权的 API / SDK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连接指定指标空间与查询范围</a:t>
            </a:r>
          </a:p>
        </p:txBody>
      </p:sp>
      <p:sp>
        <p:nvSpPr>
          <p:cNvPr id="15" name="line-216">
            <a:extLst>
              <a:ext uri="{FF2B5EF4-FFF2-40B4-BE49-F238E27FC236}">
                <a16:creationId xmlns:a16="http://schemas.microsoft.com/office/drawing/2014/main" id="{45070A45-5AF3-4F83-8A31-2EA652FC6913}"/>
              </a:ext>
            </a:extLst>
          </p:cNvPr>
          <p:cNvSpPr>
            <a:spLocks noGrp="1"/>
          </p:cNvSpPr>
          <p:nvPr/>
        </p:nvSpPr>
        <p:spPr>
          <a:xfrm>
            <a:off x="3238500" y="3286125"/>
            <a:ext cx="95" cy="247650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rrow-217">
            <a:extLst>
              <a:ext uri="{FF2B5EF4-FFF2-40B4-BE49-F238E27FC236}">
                <a16:creationId xmlns:a16="http://schemas.microsoft.com/office/drawing/2014/main" id="{4A8126D3-39B1-4F93-B3DC-A05576776C53}"/>
              </a:ext>
            </a:extLst>
          </p:cNvPr>
          <p:cNvSpPr>
            <a:spLocks noGrp="1"/>
          </p:cNvSpPr>
          <p:nvPr/>
        </p:nvSpPr>
        <p:spPr>
          <a:xfrm rot="10800000">
            <a:off x="3190875" y="3486150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line-218">
            <a:extLst>
              <a:ext uri="{FF2B5EF4-FFF2-40B4-BE49-F238E27FC236}">
                <a16:creationId xmlns:a16="http://schemas.microsoft.com/office/drawing/2014/main" id="{0647D7BC-A9A4-46AF-AAFC-5047FEB10B02}"/>
              </a:ext>
            </a:extLst>
          </p:cNvPr>
          <p:cNvSpPr>
            <a:spLocks noGrp="1"/>
          </p:cNvSpPr>
          <p:nvPr/>
        </p:nvSpPr>
        <p:spPr>
          <a:xfrm>
            <a:off x="9010650" y="3286125"/>
            <a:ext cx="95" cy="247650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rrow-219">
            <a:extLst>
              <a:ext uri="{FF2B5EF4-FFF2-40B4-BE49-F238E27FC236}">
                <a16:creationId xmlns:a16="http://schemas.microsoft.com/office/drawing/2014/main" id="{BCF209EA-E0C2-49C1-A0A0-220B2915211A}"/>
              </a:ext>
            </a:extLst>
          </p:cNvPr>
          <p:cNvSpPr>
            <a:spLocks noGrp="1"/>
          </p:cNvSpPr>
          <p:nvPr/>
        </p:nvSpPr>
        <p:spPr>
          <a:xfrm rot="10800000">
            <a:off x="8963025" y="348615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panel-220">
            <a:extLst>
              <a:ext uri="{FF2B5EF4-FFF2-40B4-BE49-F238E27FC236}">
                <a16:creationId xmlns:a16="http://schemas.microsoft.com/office/drawing/2014/main" id="{7E31CC9B-749A-4FD4-86BF-06B0872C739D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5238750" cy="1104900"/>
          </a:xfrm>
          <a:prstGeom prst="roundRect">
            <a:avLst>
              <a:gd name="adj" fmla="val 6897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-221">
            <a:extLst>
              <a:ext uri="{FF2B5EF4-FFF2-40B4-BE49-F238E27FC236}">
                <a16:creationId xmlns:a16="http://schemas.microsoft.com/office/drawing/2014/main" id="{2CFB59EE-A912-4512-9F43-383DC204B9A1}"/>
              </a:ext>
            </a:extLst>
          </p:cNvPr>
          <p:cNvSpPr>
            <a:spLocks noGrp="1"/>
          </p:cNvSpPr>
          <p:nvPr/>
        </p:nvSpPr>
        <p:spPr>
          <a:xfrm>
            <a:off x="781050" y="3705225"/>
            <a:ext cx="4895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合成回放适配器</a:t>
            </a:r>
          </a:p>
        </p:txBody>
      </p:sp>
      <p:sp>
        <p:nvSpPr>
          <p:cNvPr id="21" name="text-222">
            <a:extLst>
              <a:ext uri="{FF2B5EF4-FFF2-40B4-BE49-F238E27FC236}">
                <a16:creationId xmlns:a16="http://schemas.microsoft.com/office/drawing/2014/main" id="{69066FBC-7F9F-4E0D-B128-214FFF07D188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48958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start 载入快照 → observe 分窗回放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固定样本与版本，交付 ObservationBatch</a:t>
            </a:r>
          </a:p>
        </p:txBody>
      </p:sp>
      <p:sp>
        <p:nvSpPr>
          <p:cNvPr id="22" name="panel-223">
            <a:extLst>
              <a:ext uri="{FF2B5EF4-FFF2-40B4-BE49-F238E27FC236}">
                <a16:creationId xmlns:a16="http://schemas.microsoft.com/office/drawing/2014/main" id="{4C0A8BBB-973C-447C-80ED-23CC5400912B}"/>
              </a:ext>
            </a:extLst>
          </p:cNvPr>
          <p:cNvSpPr>
            <a:spLocks noGrp="1"/>
          </p:cNvSpPr>
          <p:nvPr/>
        </p:nvSpPr>
        <p:spPr>
          <a:xfrm>
            <a:off x="6438900" y="3590925"/>
            <a:ext cx="5143500" cy="1104900"/>
          </a:xfrm>
          <a:prstGeom prst="roundRect">
            <a:avLst>
              <a:gd name="adj" fmla="val 6897"/>
            </a:avLst>
          </a:prstGeom>
          <a:solidFill>
            <a:srgbClr val="EAF7F3"/>
          </a:solidFill>
          <a:ln w="14288">
            <a:solidFill>
              <a:srgbClr val="167F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-224">
            <a:extLst>
              <a:ext uri="{FF2B5EF4-FFF2-40B4-BE49-F238E27FC236}">
                <a16:creationId xmlns:a16="http://schemas.microsoft.com/office/drawing/2014/main" id="{646597EC-431F-4BAA-A5C5-06B8D1F9DF6B}"/>
              </a:ext>
            </a:extLst>
          </p:cNvPr>
          <p:cNvSpPr>
            <a:spLocks noGrp="1"/>
          </p:cNvSpPr>
          <p:nvPr/>
        </p:nvSpPr>
        <p:spPr>
          <a:xfrm>
            <a:off x="6610350" y="3705225"/>
            <a:ext cx="4800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只读在线适配器</a:t>
            </a:r>
          </a:p>
        </p:txBody>
      </p:sp>
      <p:sp>
        <p:nvSpPr>
          <p:cNvPr id="24" name="text-225">
            <a:extLst>
              <a:ext uri="{FF2B5EF4-FFF2-40B4-BE49-F238E27FC236}">
                <a16:creationId xmlns:a16="http://schemas.microsoft.com/office/drawing/2014/main" id="{3D8E39FA-83E6-47BB-9BAD-00EBDDF3E5A5}"/>
              </a:ext>
            </a:extLst>
          </p:cNvPr>
          <p:cNvSpPr>
            <a:spLocks noGrp="1"/>
          </p:cNvSpPr>
          <p:nvPr/>
        </p:nvSpPr>
        <p:spPr>
          <a:xfrm>
            <a:off x="6610350" y="4114800"/>
            <a:ext cx="48006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start 接入 → observe 查询或轮询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保存实际返回、来源与首次可见时间</a:t>
            </a:r>
          </a:p>
        </p:txBody>
      </p:sp>
      <p:sp>
        <p:nvSpPr>
          <p:cNvPr id="25" name="text-226">
            <a:extLst>
              <a:ext uri="{FF2B5EF4-FFF2-40B4-BE49-F238E27FC236}">
                <a16:creationId xmlns:a16="http://schemas.microsoft.com/office/drawing/2014/main" id="{C26C5214-66BA-4758-AD89-205FD597DD3E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49149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形态标注按任务解释</a:t>
            </a:r>
          </a:p>
          <a:p>
            <a:pPr algn="l">
              <a:def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不能直接当作业务异常真值</a:t>
            </a:r>
          </a:p>
        </p:txBody>
      </p:sp>
      <p:sp>
        <p:nvSpPr>
          <p:cNvPr id="26" name="text-227">
            <a:extLst>
              <a:ext uri="{FF2B5EF4-FFF2-40B4-BE49-F238E27FC236}">
                <a16:creationId xmlns:a16="http://schemas.microsoft.com/office/drawing/2014/main" id="{081B44E2-BDE6-4FDB-9E81-B550CCEE359F}"/>
              </a:ext>
            </a:extLst>
          </p:cNvPr>
          <p:cNvSpPr>
            <a:spLocks noGrp="1"/>
          </p:cNvSpPr>
          <p:nvPr/>
        </p:nvSpPr>
        <p:spPr>
          <a:xfrm>
            <a:off x="6610350" y="4905375"/>
            <a:ext cx="48006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公开演示可说明观测形式</a:t>
            </a:r>
          </a:p>
          <a:p>
            <a:pPr algn="l">
              <a:def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实际接入仍需授权查询能力</a:t>
            </a:r>
          </a:p>
        </p:txBody>
      </p:sp>
      <p:sp>
        <p:nvSpPr>
          <p:cNvPr id="27" name="text-228">
            <a:extLst>
              <a:ext uri="{FF2B5EF4-FFF2-40B4-BE49-F238E27FC236}">
                <a16:creationId xmlns:a16="http://schemas.microsoft.com/office/drawing/2014/main" id="{385BD2BD-9F2A-44E2-B7D9-73014F4D5231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当前产出是两条适配方案；连接器实现、联调与评价结果仍待完成。</a:t>
            </a:r>
          </a:p>
        </p:txBody>
      </p:sp>
    </p:spTree>
    <p:extLst>
      <p:ext uri="{BB962C8B-B14F-4D97-AF65-F5344CB8AC3E}">
        <p14:creationId xmlns:p14="http://schemas.microsoft.com/office/powerpoint/2010/main" val="107240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1F9D96-1E62-46A7-A86A-935C66EE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11010900" cy="666750"/>
          </a:xfrm>
        </p:spPr>
        <p:txBody>
          <a:bodyPr wrap="none" lIns="0" tIns="0" rIns="0" bIns="0" anchor="ctr">
            <a:noAutofit/>
          </a:bodyPr>
          <a:lstStyle/>
          <a:p>
            <a:pPr algn="ctr">
              <a:def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202326"/>
                </a:solidFill>
                <a:latin typeface="Microsoft YaHei"/>
                <a:ea typeface="Microsoft YaHei"/>
                <a:cs typeface="Microsoft YaHei"/>
              </a:rPr>
              <a:t>实验依据进入评审与下一轮改进</a:t>
            </a:r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F5BAAA-AF49-91F9-59AC-5AE815D5FD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GymTS 架构设计</a:t>
            </a: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B3DF56-1CEB-909E-EBDA-22FAA694D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def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fld id="{388657AE-30A1-5A7A-6A7F-315D84436430}" type="slidenum">
              <a:rPr sz="120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/>
          </a:p>
        </p:txBody>
      </p:sp>
      <p:sp>
        <p:nvSpPr>
          <p:cNvPr id="6" name="panel-229">
            <a:extLst>
              <a:ext uri="{FF2B5EF4-FFF2-40B4-BE49-F238E27FC236}">
                <a16:creationId xmlns:a16="http://schemas.microsoft.com/office/drawing/2014/main" id="{208E7D19-E8B7-476F-82D3-9967048BE936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990850" cy="1209675"/>
          </a:xfrm>
          <a:prstGeom prst="roundRect">
            <a:avLst>
              <a:gd name="adj" fmla="val 6299"/>
            </a:avLst>
          </a:prstGeom>
          <a:solidFill>
            <a:srgbClr val="EDF5FC"/>
          </a:solidFill>
          <a:ln w="14288">
            <a:solidFill>
              <a:srgbClr val="2466A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-230">
            <a:extLst>
              <a:ext uri="{FF2B5EF4-FFF2-40B4-BE49-F238E27FC236}">
                <a16:creationId xmlns:a16="http://schemas.microsoft.com/office/drawing/2014/main" id="{59F7FB80-0B3A-4DD2-8508-2E50D7926F44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2647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GymTS</a:t>
            </a:r>
          </a:p>
        </p:txBody>
      </p:sp>
      <p:sp>
        <p:nvSpPr>
          <p:cNvPr id="8" name="text-231">
            <a:extLst>
              <a:ext uri="{FF2B5EF4-FFF2-40B4-BE49-F238E27FC236}">
                <a16:creationId xmlns:a16="http://schemas.microsoft.com/office/drawing/2014/main" id="{B014C7EC-41E1-41C3-A608-C122D316DEA9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2647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运行结果 · 过程记录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评价报告与证据</a:t>
            </a:r>
          </a:p>
        </p:txBody>
      </p:sp>
      <p:sp>
        <p:nvSpPr>
          <p:cNvPr id="9" name="panel-232">
            <a:extLst>
              <a:ext uri="{FF2B5EF4-FFF2-40B4-BE49-F238E27FC236}">
                <a16:creationId xmlns:a16="http://schemas.microsoft.com/office/drawing/2014/main" id="{D4DB8EEE-3E21-421B-A107-C44BC39D453B}"/>
              </a:ext>
            </a:extLst>
          </p:cNvPr>
          <p:cNvSpPr>
            <a:spLocks noGrp="1"/>
          </p:cNvSpPr>
          <p:nvPr/>
        </p:nvSpPr>
        <p:spPr>
          <a:xfrm>
            <a:off x="4552950" y="1952625"/>
            <a:ext cx="3143250" cy="1209675"/>
          </a:xfrm>
          <a:prstGeom prst="roundRect">
            <a:avLst>
              <a:gd name="adj" fmla="val 6299"/>
            </a:avLst>
          </a:prstGeom>
          <a:solidFill>
            <a:srgbClr val="F4EFFA"/>
          </a:solidFill>
          <a:ln w="14288">
            <a:solidFill>
              <a:srgbClr val="7550A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-233">
            <a:extLst>
              <a:ext uri="{FF2B5EF4-FFF2-40B4-BE49-F238E27FC236}">
                <a16:creationId xmlns:a16="http://schemas.microsoft.com/office/drawing/2014/main" id="{AE38BA5C-47D7-4124-A244-9547B57305A5}"/>
              </a:ext>
            </a:extLst>
          </p:cNvPr>
          <p:cNvSpPr>
            <a:spLocks noGrp="1"/>
          </p:cNvSpPr>
          <p:nvPr/>
        </p:nvSpPr>
        <p:spPr>
          <a:xfrm>
            <a:off x="4724400" y="2066925"/>
            <a:ext cx="2800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50A0"/>
                </a:solidFill>
                <a:latin typeface="Microsoft YaHei"/>
                <a:ea typeface="Microsoft YaHei"/>
                <a:cs typeface="Microsoft YaHei"/>
              </a:rPr>
              <a:t>LabTS 评审与批准</a:t>
            </a:r>
          </a:p>
        </p:txBody>
      </p:sp>
      <p:sp>
        <p:nvSpPr>
          <p:cNvPr id="11" name="text-234">
            <a:extLst>
              <a:ext uri="{FF2B5EF4-FFF2-40B4-BE49-F238E27FC236}">
                <a16:creationId xmlns:a16="http://schemas.microsoft.com/office/drawing/2014/main" id="{82C6D544-7121-4E52-B7BA-BC6F127FBC7C}"/>
              </a:ext>
            </a:extLst>
          </p:cNvPr>
          <p:cNvSpPr>
            <a:spLocks noGrp="1"/>
          </p:cNvSpPr>
          <p:nvPr/>
        </p:nvSpPr>
        <p:spPr>
          <a:xfrm>
            <a:off x="4724400" y="2476500"/>
            <a:ext cx="28003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比较方案、判断交付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审查测试结果与适用范围</a:t>
            </a:r>
          </a:p>
        </p:txBody>
      </p:sp>
      <p:sp>
        <p:nvSpPr>
          <p:cNvPr id="12" name="panel-235">
            <a:extLst>
              <a:ext uri="{FF2B5EF4-FFF2-40B4-BE49-F238E27FC236}">
                <a16:creationId xmlns:a16="http://schemas.microsoft.com/office/drawing/2014/main" id="{F11758C3-FE10-42BF-B72B-CAC0D09EDB39}"/>
              </a:ext>
            </a:extLst>
          </p:cNvPr>
          <p:cNvSpPr>
            <a:spLocks noGrp="1"/>
          </p:cNvSpPr>
          <p:nvPr/>
        </p:nvSpPr>
        <p:spPr>
          <a:xfrm>
            <a:off x="8686800" y="1952625"/>
            <a:ext cx="2895600" cy="1209675"/>
          </a:xfrm>
          <a:prstGeom prst="roundRect">
            <a:avLst>
              <a:gd name="adj" fmla="val 6299"/>
            </a:avLst>
          </a:prstGeom>
          <a:solidFill>
            <a:srgbClr val="EAF7F3"/>
          </a:solidFill>
          <a:ln w="14288">
            <a:solidFill>
              <a:srgbClr val="167F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-236">
            <a:extLst>
              <a:ext uri="{FF2B5EF4-FFF2-40B4-BE49-F238E27FC236}">
                <a16:creationId xmlns:a16="http://schemas.microsoft.com/office/drawing/2014/main" id="{EAB4A4B0-E3CB-4F53-B75F-E7AF51F30CE3}"/>
              </a:ext>
            </a:extLst>
          </p:cNvPr>
          <p:cNvSpPr>
            <a:spLocks noGrp="1"/>
          </p:cNvSpPr>
          <p:nvPr/>
        </p:nvSpPr>
        <p:spPr>
          <a:xfrm>
            <a:off x="8858250" y="206692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7"/>
                </a:solidFill>
                <a:latin typeface="Microsoft YaHei"/>
                <a:ea typeface="Microsoft YaHei"/>
                <a:cs typeface="Microsoft YaHei"/>
              </a:rPr>
              <a:t>交付后的时序 Agent</a:t>
            </a:r>
          </a:p>
        </p:txBody>
      </p:sp>
      <p:sp>
        <p:nvSpPr>
          <p:cNvPr id="14" name="text-237">
            <a:extLst>
              <a:ext uri="{FF2B5EF4-FFF2-40B4-BE49-F238E27FC236}">
                <a16:creationId xmlns:a16="http://schemas.microsoft.com/office/drawing/2014/main" id="{25C39BEB-ED3E-4909-8827-89A1F8AA3417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2552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在现场运行</a:t>
            </a:r>
          </a:p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形成运行结果与轨迹</a:t>
            </a:r>
          </a:p>
        </p:txBody>
      </p:sp>
      <p:sp>
        <p:nvSpPr>
          <p:cNvPr id="15" name="line-238">
            <a:extLst>
              <a:ext uri="{FF2B5EF4-FFF2-40B4-BE49-F238E27FC236}">
                <a16:creationId xmlns:a16="http://schemas.microsoft.com/office/drawing/2014/main" id="{30E19F07-DC81-4455-8B07-E6B044BB65DD}"/>
              </a:ext>
            </a:extLst>
          </p:cNvPr>
          <p:cNvSpPr>
            <a:spLocks noGrp="1"/>
          </p:cNvSpPr>
          <p:nvPr/>
        </p:nvSpPr>
        <p:spPr>
          <a:xfrm>
            <a:off x="3600450" y="2562225"/>
            <a:ext cx="952500" cy="95"/>
          </a:xfrm>
          <a:prstGeom prst="line">
            <a:avLst/>
          </a:prstGeom>
          <a:noFill/>
          <a:ln w="19050">
            <a:solidFill>
              <a:srgbClr val="246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rrow-239">
            <a:extLst>
              <a:ext uri="{FF2B5EF4-FFF2-40B4-BE49-F238E27FC236}">
                <a16:creationId xmlns:a16="http://schemas.microsoft.com/office/drawing/2014/main" id="{50DB5945-9EBA-4FBC-B3D1-A922AE5B6543}"/>
              </a:ext>
            </a:extLst>
          </p:cNvPr>
          <p:cNvSpPr>
            <a:spLocks noGrp="1"/>
          </p:cNvSpPr>
          <p:nvPr/>
        </p:nvSpPr>
        <p:spPr>
          <a:xfrm rot="5400000">
            <a:off x="4505325" y="2514600"/>
            <a:ext cx="95250" cy="95250"/>
          </a:xfrm>
          <a:prstGeom prst="triangle">
            <a:avLst/>
          </a:prstGeom>
          <a:solidFill>
            <a:srgbClr val="2466A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line-240">
            <a:extLst>
              <a:ext uri="{FF2B5EF4-FFF2-40B4-BE49-F238E27FC236}">
                <a16:creationId xmlns:a16="http://schemas.microsoft.com/office/drawing/2014/main" id="{17D03E66-1D0A-4ED9-A826-4269BFC40A4F}"/>
              </a:ext>
            </a:extLst>
          </p:cNvPr>
          <p:cNvSpPr>
            <a:spLocks noGrp="1"/>
          </p:cNvSpPr>
          <p:nvPr/>
        </p:nvSpPr>
        <p:spPr>
          <a:xfrm>
            <a:off x="7696200" y="2562225"/>
            <a:ext cx="990600" cy="95"/>
          </a:xfrm>
          <a:prstGeom prst="line">
            <a:avLst/>
          </a:prstGeom>
          <a:noFill/>
          <a:ln w="19050">
            <a:solidFill>
              <a:srgbClr val="7550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rrow-241">
            <a:extLst>
              <a:ext uri="{FF2B5EF4-FFF2-40B4-BE49-F238E27FC236}">
                <a16:creationId xmlns:a16="http://schemas.microsoft.com/office/drawing/2014/main" id="{2BB3C87D-17D1-470E-96B7-E74F61BF238B}"/>
              </a:ext>
            </a:extLst>
          </p:cNvPr>
          <p:cNvSpPr>
            <a:spLocks noGrp="1"/>
          </p:cNvSpPr>
          <p:nvPr/>
        </p:nvSpPr>
        <p:spPr>
          <a:xfrm rot="5400000">
            <a:off x="8639175" y="2514600"/>
            <a:ext cx="95250" cy="95250"/>
          </a:xfrm>
          <a:prstGeom prst="triangle">
            <a:avLst/>
          </a:prstGeom>
          <a:solidFill>
            <a:srgbClr val="7550A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panel-242">
            <a:extLst>
              <a:ext uri="{FF2B5EF4-FFF2-40B4-BE49-F238E27FC236}">
                <a16:creationId xmlns:a16="http://schemas.microsoft.com/office/drawing/2014/main" id="{45B9CCF7-010C-467F-9290-DD2BEE4D391E}"/>
              </a:ext>
            </a:extLst>
          </p:cNvPr>
          <p:cNvSpPr>
            <a:spLocks noGrp="1"/>
          </p:cNvSpPr>
          <p:nvPr/>
        </p:nvSpPr>
        <p:spPr>
          <a:xfrm>
            <a:off x="4552950" y="4010025"/>
            <a:ext cx="7029450" cy="1066800"/>
          </a:xfrm>
          <a:prstGeom prst="roundRect">
            <a:avLst>
              <a:gd name="adj" fmla="val 7143"/>
            </a:avLst>
          </a:prstGeom>
          <a:solidFill>
            <a:srgbClr val="FFF5E8"/>
          </a:solidFill>
          <a:ln w="14288">
            <a:solidFill>
              <a:srgbClr val="B8732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-243">
            <a:extLst>
              <a:ext uri="{FF2B5EF4-FFF2-40B4-BE49-F238E27FC236}">
                <a16:creationId xmlns:a16="http://schemas.microsoft.com/office/drawing/2014/main" id="{499145BD-9691-48C3-9EFB-0EDD77091D4E}"/>
              </a:ext>
            </a:extLst>
          </p:cNvPr>
          <p:cNvSpPr>
            <a:spLocks noGrp="1"/>
          </p:cNvSpPr>
          <p:nvPr/>
        </p:nvSpPr>
        <p:spPr>
          <a:xfrm>
            <a:off x="4724400" y="4124325"/>
            <a:ext cx="66865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EvolveTS 组织改进</a:t>
            </a:r>
          </a:p>
        </p:txBody>
      </p:sp>
      <p:sp>
        <p:nvSpPr>
          <p:cNvPr id="21" name="text-244">
            <a:extLst>
              <a:ext uri="{FF2B5EF4-FFF2-40B4-BE49-F238E27FC236}">
                <a16:creationId xmlns:a16="http://schemas.microsoft.com/office/drawing/2014/main" id="{B2EAB3CD-AB91-43EE-A479-760DA78709A2}"/>
              </a:ext>
            </a:extLst>
          </p:cNvPr>
          <p:cNvSpPr>
            <a:spLocks noGrp="1"/>
          </p:cNvSpPr>
          <p:nvPr/>
        </p:nvSpPr>
        <p:spPr>
          <a:xfrm>
            <a:off x="4724400" y="4533900"/>
            <a:ext cx="66865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结合实验材料、运行结果与用户反馈，形成待验证版本</a:t>
            </a:r>
          </a:p>
        </p:txBody>
      </p:sp>
      <p:sp>
        <p:nvSpPr>
          <p:cNvPr id="22" name="line-245">
            <a:extLst>
              <a:ext uri="{FF2B5EF4-FFF2-40B4-BE49-F238E27FC236}">
                <a16:creationId xmlns:a16="http://schemas.microsoft.com/office/drawing/2014/main" id="{C0C93195-2B12-40F6-98B5-BA8DB7FDA04B}"/>
              </a:ext>
            </a:extLst>
          </p:cNvPr>
          <p:cNvSpPr>
            <a:spLocks noGrp="1"/>
          </p:cNvSpPr>
          <p:nvPr/>
        </p:nvSpPr>
        <p:spPr>
          <a:xfrm>
            <a:off x="10144125" y="3162300"/>
            <a:ext cx="95" cy="847725"/>
          </a:xfrm>
          <a:prstGeom prst="line">
            <a:avLst/>
          </a:prstGeom>
          <a:noFill/>
          <a:ln w="19050">
            <a:solidFill>
              <a:srgbClr val="167F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rrow-246">
            <a:extLst>
              <a:ext uri="{FF2B5EF4-FFF2-40B4-BE49-F238E27FC236}">
                <a16:creationId xmlns:a16="http://schemas.microsoft.com/office/drawing/2014/main" id="{F4D587E4-6E28-44BC-BFB7-554A737BDDD4}"/>
              </a:ext>
            </a:extLst>
          </p:cNvPr>
          <p:cNvSpPr>
            <a:spLocks noGrp="1"/>
          </p:cNvSpPr>
          <p:nvPr/>
        </p:nvSpPr>
        <p:spPr>
          <a:xfrm rot="10800000">
            <a:off x="10096500" y="396240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ine-247">
            <a:extLst>
              <a:ext uri="{FF2B5EF4-FFF2-40B4-BE49-F238E27FC236}">
                <a16:creationId xmlns:a16="http://schemas.microsoft.com/office/drawing/2014/main" id="{96CF1662-5C14-4F05-B681-8F30BD483562}"/>
              </a:ext>
            </a:extLst>
          </p:cNvPr>
          <p:cNvSpPr>
            <a:spLocks noGrp="1"/>
          </p:cNvSpPr>
          <p:nvPr/>
        </p:nvSpPr>
        <p:spPr>
          <a:xfrm>
            <a:off x="2047875" y="3162300"/>
            <a:ext cx="95" cy="1381125"/>
          </a:xfrm>
          <a:prstGeom prst="line">
            <a:avLst/>
          </a:prstGeom>
          <a:noFill/>
          <a:ln w="19050">
            <a:solidFill>
              <a:srgbClr val="167F7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line-248">
            <a:extLst>
              <a:ext uri="{FF2B5EF4-FFF2-40B4-BE49-F238E27FC236}">
                <a16:creationId xmlns:a16="http://schemas.microsoft.com/office/drawing/2014/main" id="{44E83B91-643C-4358-A692-F444EB1CB3B5}"/>
              </a:ext>
            </a:extLst>
          </p:cNvPr>
          <p:cNvSpPr>
            <a:spLocks noGrp="1"/>
          </p:cNvSpPr>
          <p:nvPr/>
        </p:nvSpPr>
        <p:spPr>
          <a:xfrm>
            <a:off x="2047875" y="4543425"/>
            <a:ext cx="2505075" cy="95"/>
          </a:xfrm>
          <a:prstGeom prst="line">
            <a:avLst/>
          </a:prstGeom>
          <a:noFill/>
          <a:ln w="19050">
            <a:solidFill>
              <a:srgbClr val="167F7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arrow-249">
            <a:extLst>
              <a:ext uri="{FF2B5EF4-FFF2-40B4-BE49-F238E27FC236}">
                <a16:creationId xmlns:a16="http://schemas.microsoft.com/office/drawing/2014/main" id="{A8C06753-0520-464C-A3A8-3F2889210322}"/>
              </a:ext>
            </a:extLst>
          </p:cNvPr>
          <p:cNvSpPr>
            <a:spLocks noGrp="1"/>
          </p:cNvSpPr>
          <p:nvPr/>
        </p:nvSpPr>
        <p:spPr>
          <a:xfrm rot="5400000">
            <a:off x="4505325" y="4495800"/>
            <a:ext cx="95250" cy="95250"/>
          </a:xfrm>
          <a:prstGeom prst="triangle">
            <a:avLst/>
          </a:prstGeom>
          <a:solidFill>
            <a:srgbClr val="167F7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ine-250">
            <a:extLst>
              <a:ext uri="{FF2B5EF4-FFF2-40B4-BE49-F238E27FC236}">
                <a16:creationId xmlns:a16="http://schemas.microsoft.com/office/drawing/2014/main" id="{34E5ED12-E434-4F46-B549-AD0F48B2ED2E}"/>
              </a:ext>
            </a:extLst>
          </p:cNvPr>
          <p:cNvSpPr>
            <a:spLocks noGrp="1"/>
          </p:cNvSpPr>
          <p:nvPr/>
        </p:nvSpPr>
        <p:spPr>
          <a:xfrm>
            <a:off x="3790950" y="4819650"/>
            <a:ext cx="762000" cy="95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-251">
            <a:extLst>
              <a:ext uri="{FF2B5EF4-FFF2-40B4-BE49-F238E27FC236}">
                <a16:creationId xmlns:a16="http://schemas.microsoft.com/office/drawing/2014/main" id="{E5E5B47E-6860-4352-8B63-5BA3F2F38294}"/>
              </a:ext>
            </a:extLst>
          </p:cNvPr>
          <p:cNvSpPr>
            <a:spLocks noGrp="1"/>
          </p:cNvSpPr>
          <p:nvPr/>
        </p:nvSpPr>
        <p:spPr>
          <a:xfrm>
            <a:off x="3790950" y="3590925"/>
            <a:ext cx="95" cy="1228725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line-252">
            <a:extLst>
              <a:ext uri="{FF2B5EF4-FFF2-40B4-BE49-F238E27FC236}">
                <a16:creationId xmlns:a16="http://schemas.microsoft.com/office/drawing/2014/main" id="{9D2A0BAB-2FA9-45E4-BCAF-E7752634C11A}"/>
              </a:ext>
            </a:extLst>
          </p:cNvPr>
          <p:cNvSpPr>
            <a:spLocks noGrp="1"/>
          </p:cNvSpPr>
          <p:nvPr/>
        </p:nvSpPr>
        <p:spPr>
          <a:xfrm>
            <a:off x="2047875" y="3590925"/>
            <a:ext cx="1743075" cy="95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line-253">
            <a:extLst>
              <a:ext uri="{FF2B5EF4-FFF2-40B4-BE49-F238E27FC236}">
                <a16:creationId xmlns:a16="http://schemas.microsoft.com/office/drawing/2014/main" id="{0E2F3C3A-9AF5-4E54-B7BC-62041B581C96}"/>
              </a:ext>
            </a:extLst>
          </p:cNvPr>
          <p:cNvSpPr>
            <a:spLocks noGrp="1"/>
          </p:cNvSpPr>
          <p:nvPr/>
        </p:nvSpPr>
        <p:spPr>
          <a:xfrm>
            <a:off x="2047875" y="3162300"/>
            <a:ext cx="95" cy="428625"/>
          </a:xfrm>
          <a:prstGeom prst="line">
            <a:avLst/>
          </a:prstGeom>
          <a:noFill/>
          <a:ln w="19050">
            <a:solidFill>
              <a:srgbClr val="B87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arrow-254">
            <a:extLst>
              <a:ext uri="{FF2B5EF4-FFF2-40B4-BE49-F238E27FC236}">
                <a16:creationId xmlns:a16="http://schemas.microsoft.com/office/drawing/2014/main" id="{794AA3B5-53A3-43FC-A140-A0B63DC7F798}"/>
              </a:ext>
            </a:extLst>
          </p:cNvPr>
          <p:cNvSpPr>
            <a:spLocks noGrp="1"/>
          </p:cNvSpPr>
          <p:nvPr/>
        </p:nvSpPr>
        <p:spPr>
          <a:xfrm>
            <a:off x="2000250" y="3114675"/>
            <a:ext cx="95250" cy="95250"/>
          </a:xfrm>
          <a:prstGeom prst="triangle">
            <a:avLst/>
          </a:prstGeom>
          <a:solidFill>
            <a:srgbClr val="B8732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panel-255">
            <a:extLst>
              <a:ext uri="{FF2B5EF4-FFF2-40B4-BE49-F238E27FC236}">
                <a16:creationId xmlns:a16="http://schemas.microsoft.com/office/drawing/2014/main" id="{820E957C-F0E2-4E42-9E4D-8EF3C11226AE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3152775" cy="323850"/>
          </a:xfrm>
          <a:prstGeom prst="roundRect">
            <a:avLst>
              <a:gd name="adj" fmla="val 11765"/>
            </a:avLst>
          </a:prstGeom>
          <a:solidFill>
            <a:srgbClr val="FFF5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-256">
            <a:extLst>
              <a:ext uri="{FF2B5EF4-FFF2-40B4-BE49-F238E27FC236}">
                <a16:creationId xmlns:a16="http://schemas.microsoft.com/office/drawing/2014/main" id="{3D1E334C-C57D-4069-85CA-C02E297DA9D2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30003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7326"/>
                </a:solidFill>
                <a:latin typeface="Microsoft YaHei"/>
                <a:ea typeface="Microsoft YaHei"/>
                <a:cs typeface="Microsoft YaHei"/>
              </a:rPr>
              <a:t>新版本再实验、再测试</a:t>
            </a:r>
          </a:p>
        </p:txBody>
      </p:sp>
      <p:sp>
        <p:nvSpPr>
          <p:cNvPr id="34" name="text-257">
            <a:extLst>
              <a:ext uri="{FF2B5EF4-FFF2-40B4-BE49-F238E27FC236}">
                <a16:creationId xmlns:a16="http://schemas.microsoft.com/office/drawing/2014/main" id="{60B91F89-7610-4C1F-8493-62987A0A9314}"/>
              </a:ext>
            </a:extLst>
          </p:cNvPr>
          <p:cNvSpPr>
            <a:spLocks noGrp="1"/>
          </p:cNvSpPr>
          <p:nvPr/>
        </p:nvSpPr>
        <p:spPr>
          <a:xfrm>
            <a:off x="4552950" y="5314950"/>
            <a:ext cx="26955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6A5"/>
                </a:solidFill>
                <a:latin typeface="Microsoft YaHei"/>
                <a:ea typeface="Microsoft YaHei"/>
                <a:cs typeface="Microsoft YaHei"/>
              </a:rPr>
              <a:t>下一步实现顺序</a:t>
            </a:r>
          </a:p>
        </p:txBody>
      </p:sp>
      <p:sp>
        <p:nvSpPr>
          <p:cNvPr id="35" name="text-258">
            <a:extLst>
              <a:ext uri="{FF2B5EF4-FFF2-40B4-BE49-F238E27FC236}">
                <a16:creationId xmlns:a16="http://schemas.microsoft.com/office/drawing/2014/main" id="{3247F8D1-B98C-42E5-9D9B-C9D5BFDE89E9}"/>
              </a:ext>
            </a:extLst>
          </p:cNvPr>
          <p:cNvSpPr>
            <a:spLocks noGrp="1"/>
          </p:cNvSpPr>
          <p:nvPr/>
        </p:nvSpPr>
        <p:spPr>
          <a:xfrm>
            <a:off x="4552950" y="5695950"/>
            <a:ext cx="7029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547"/>
                </a:solidFill>
                <a:latin typeface="Microsoft YaHei"/>
                <a:ea typeface="Microsoft YaHei"/>
                <a:cs typeface="Microsoft YaHei"/>
              </a:rPr>
              <a:t>历史 / 合成回放 → LibraryTS 方法调用 → 记录与评分 → 在线只读接入</a:t>
            </a:r>
          </a:p>
        </p:txBody>
      </p:sp>
      <p:sp>
        <p:nvSpPr>
          <p:cNvPr id="36" name="text-259">
            <a:extLst>
              <a:ext uri="{FF2B5EF4-FFF2-40B4-BE49-F238E27FC236}">
                <a16:creationId xmlns:a16="http://schemas.microsoft.com/office/drawing/2014/main" id="{735F9754-7589-41EC-B026-6ADD964439F0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88A"/>
                </a:solidFill>
                <a:latin typeface="Microsoft YaHei"/>
                <a:ea typeface="Microsoft YaHei"/>
                <a:cs typeface="Microsoft YaHei"/>
              </a:rPr>
              <a:t>Agent Platform / 现场基础设施：承载执行、权限隔离与通用观测</a:t>
            </a:r>
          </a:p>
        </p:txBody>
      </p:sp>
    </p:spTree>
    <p:extLst>
      <p:ext uri="{BB962C8B-B14F-4D97-AF65-F5344CB8AC3E}">
        <p14:creationId xmlns:p14="http://schemas.microsoft.com/office/powerpoint/2010/main" val="1087355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Microsoft Macintosh PowerPoint</Application>
  <DocSecurity>0</DocSecurity>
  <PresentationFormat>宽屏</PresentationFormat>
  <Paragraphs>276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Microsoft YaHei</vt:lpstr>
      <vt:lpstr>Microsoft YaHei Bold</vt:lpstr>
      <vt:lpstr>Microsoft YaHei Regular</vt:lpstr>
      <vt:lpstr>Arial</vt:lpstr>
      <vt:lpstr>Book Antiqua</vt:lpstr>
      <vt:lpstr>Century Gothic</vt:lpstr>
      <vt:lpstr>Office 主题​​</vt:lpstr>
      <vt:lpstr>PowerPoint 演示文稿</vt:lpstr>
      <vt:lpstr>GymTS 交付结果、过程证据与评价</vt:lpstr>
      <vt:lpstr>GymTS全景图</vt:lpstr>
      <vt:lpstr>一次 Run 怎样形成结果与反馈</vt:lpstr>
      <vt:lpstr>环境接口统一，来源能力声明</vt:lpstr>
      <vt:lpstr>LibraryTS 资产如何参与一次运行</vt:lpstr>
      <vt:lpstr>运行记录保留结果产生时的依据</vt:lpstr>
      <vt:lpstr>BenchTS 以固定方案比较与检验</vt:lpstr>
      <vt:lpstr>两个实践检验同一套接入设计</vt:lpstr>
      <vt:lpstr>实验依据进入评审与下一轮改进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珉轩 朱</cp:lastModifiedBy>
  <cp:revision>1</cp:revision>
  <dcterms:created xsi:type="dcterms:W3CDTF">2026-09-24T12:41:27Z</dcterms:created>
  <dcterms:modified xsi:type="dcterms:W3CDTF">2026-09-25T06:50:16Z</dcterms:modified>
</cp:coreProperties>
</file>